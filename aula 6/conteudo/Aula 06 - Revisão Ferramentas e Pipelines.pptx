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  <p:embeddedFont>
      <p:font typeface="Corbel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Lato-bold.fntdata"/><Relationship Id="rId43" Type="http://schemas.openxmlformats.org/officeDocument/2006/relationships/font" Target="fonts/Lato-regular.fntdata"/><Relationship Id="rId46" Type="http://schemas.openxmlformats.org/officeDocument/2006/relationships/font" Target="fonts/Lato-boldItalic.fntdata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aleway-regular.fntdata"/><Relationship Id="rId34" Type="http://schemas.openxmlformats.org/officeDocument/2006/relationships/slide" Target="slides/slide28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Roboto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Corbel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030b0264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030b0264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030b0264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a030b0264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030b0264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030b026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030b0264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a030b0264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030b0264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a030b0264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030b0264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030b0264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030b026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a030b026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030b0264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030b0264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030b0264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030b0264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8d04ed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8d04ed4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8d04ed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8d04ed4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88d04ed45_0_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88d04ed4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8d04ed4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88d04ed45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8d04ed4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8d04ed4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88d04ed45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88d04ed4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8d04ed45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8d04ed45_0_7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88d04ed45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8d04ed4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88d04ed45_0_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8d04ed45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8d04ed45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8d04ed45_0_8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88d04ed45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8d04ed45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8d04ed45_0_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88d04ed45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8d04ed45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88d04ed45_0_10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8d04ed45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49ea83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49ea8306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849ea830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8d04ed4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8d04ed45_0_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88d04ed4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50164cc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850164cc3_0_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850164cc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8d04ed4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88d04ed45_0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88d04ed45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deivisontakatu/projeto-pipelines-devop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marketplace?type=action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Revisão Ferramentas e Pipelines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DevOps: O Ciclo Infinito do Desenvolvimento Moderno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Estrutura de pipeline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Exemplos de Pipeline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Actions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Entregas de Software e Automação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15600" y="1536633"/>
            <a:ext cx="4578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110" name="Google Shape;110;p21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400" y="1356967"/>
            <a:ext cx="7339600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457200" lvl="0" marL="6096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Manter testes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válida: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4846367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0" name="Google Shape;160;p29"/>
          <p:cNvSpPr/>
          <p:nvPr/>
        </p:nvSpPr>
        <p:spPr>
          <a:xfrm>
            <a:off x="505770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Métricas</a:t>
            </a:r>
            <a:endParaRPr i="0" sz="1900" u="none" cap="none" strike="noStrike"/>
          </a:p>
        </p:txBody>
      </p:sp>
      <p:sp>
        <p:nvSpPr>
          <p:cNvPr id="161" name="Google Shape;161;p29"/>
          <p:cNvSpPr/>
          <p:nvPr/>
        </p:nvSpPr>
        <p:spPr>
          <a:xfrm>
            <a:off x="5037867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400" u="none" cap="none" strike="noStrike"/>
          </a:p>
        </p:txBody>
      </p:sp>
      <p:sp>
        <p:nvSpPr>
          <p:cNvPr id="162" name="Google Shape;162;p29"/>
          <p:cNvSpPr/>
          <p:nvPr/>
        </p:nvSpPr>
        <p:spPr>
          <a:xfrm>
            <a:off x="8373606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3" name="Google Shape;163;p29"/>
          <p:cNvSpPr/>
          <p:nvPr/>
        </p:nvSpPr>
        <p:spPr>
          <a:xfrm>
            <a:off x="895031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Logs</a:t>
            </a:r>
            <a:endParaRPr i="0" sz="1900" u="none" cap="none" strike="noStrike"/>
          </a:p>
        </p:txBody>
      </p:sp>
      <p:sp>
        <p:nvSpPr>
          <p:cNvPr id="164" name="Google Shape;164;p29"/>
          <p:cNvSpPr/>
          <p:nvPr/>
        </p:nvSpPr>
        <p:spPr>
          <a:xfrm>
            <a:off x="8565106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400" u="none" cap="none" strike="noStrike"/>
          </a:p>
        </p:txBody>
      </p:sp>
      <p:sp>
        <p:nvSpPr>
          <p:cNvPr id="165" name="Google Shape;165;p29"/>
          <p:cNvSpPr/>
          <p:nvPr/>
        </p:nvSpPr>
        <p:spPr>
          <a:xfrm>
            <a:off x="4846367" y="5365312"/>
            <a:ext cx="6929700" cy="12804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6" name="Google Shape;166;p29"/>
          <p:cNvSpPr/>
          <p:nvPr/>
        </p:nvSpPr>
        <p:spPr>
          <a:xfrm>
            <a:off x="5037867" y="5556813"/>
            <a:ext cx="226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None/>
            </a:pPr>
            <a:r>
              <a:rPr i="0" lang="pt-BR" sz="1700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700" u="none" cap="none" strike="noStrike">
                <a:solidFill>
                  <a:srgbClr val="3C3939"/>
                </a:solidFill>
              </a:rPr>
              <a:t> Traces</a:t>
            </a:r>
            <a:endParaRPr i="0" sz="1700" u="none" cap="none" strike="noStrike"/>
          </a:p>
        </p:txBody>
      </p:sp>
      <p:sp>
        <p:nvSpPr>
          <p:cNvPr id="167" name="Google Shape;167;p29"/>
          <p:cNvSpPr/>
          <p:nvPr/>
        </p:nvSpPr>
        <p:spPr>
          <a:xfrm>
            <a:off x="5037867" y="5964821"/>
            <a:ext cx="6547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4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Pipeline: Sequência de validações automatizadas executadas durante o ciclo de entrega do software.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Build uma única vez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O mesmo artefato é promovido entre ambientes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Mesmo deploy em todos os ambientes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Desenvolvimento → Homologação → Produção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Falhou? Para tudo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Nenhuma etapa continua após erro</a:t>
            </a:r>
            <a:endParaRPr sz="2800"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pipeline</a:t>
            </a:r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7444550" y="3429000"/>
            <a:ext cx="4179900" cy="2651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Um desenvolvedor altera a tela de login de um sistema e envia o código para o GitHub. A partir disso, o pipeline inicia automaticamente: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O sistema baixa o código atualizado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Compila 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Executa testes automáticos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Verifica a qualidade do código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Gera uma nova versão da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Pública em ambiente de homologação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pipeline de build é a etapa responsável por preparar automaticamente o software para execução ou distribuição.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objetivo é garantir que o sistema consiga ser construído corretamente antes das próximas etapas do pipeline.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Principais funções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Compilação automatizada do projeto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Geração de artefatos de software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arquivos .jar, .war, .apk, containers Docker etc.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Verificação inicial da integridade do código</a:t>
            </a:r>
            <a:endParaRPr sz="2500"/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build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pipeline de testes executa automaticamente validações no sistema após o processo de build.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objetivo é garantir que novas alterações não quebrem funcionalidades existentes do sistema.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Principais funções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Execução automática de testes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Validação contínua da aplicação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Identificação rápida de falhas</a:t>
            </a:r>
            <a:endParaRPr sz="2000"/>
          </a:p>
        </p:txBody>
      </p:sp>
      <p:sp>
        <p:nvSpPr>
          <p:cNvPr id="189" name="Google Shape;189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testes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qualidade realiza verificações automatizadas para avaliar se o código atende aos padrões definidos antes de avançar para as próximas etapas.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objetivo é identificar problemas de qualidade, inconsistências e possíveis falhas no código de forma antecipada.</a:t>
            </a:r>
            <a:endParaRPr/>
          </a:p>
        </p:txBody>
      </p:sp>
      <p:sp>
        <p:nvSpPr>
          <p:cNvPr id="196" name="Google Shape;196;p3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qualidade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O pipeline de segurança realiza verificações automatizadas para identificar vulnerabilidades e riscos no software durante o processo de desenvolvimento.</a:t>
            </a:r>
            <a:endParaRPr sz="2700"/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Principais funções</a:t>
            </a:r>
            <a:endParaRPr sz="27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Análise de vulnerabilidades no código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Verificação de dependências utilizadas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Identificação de configurações inseguras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Detecção de informações sensíveis expostas</a:t>
            </a:r>
            <a:endParaRPr sz="1900"/>
          </a:p>
        </p:txBody>
      </p:sp>
      <p:sp>
        <p:nvSpPr>
          <p:cNvPr id="203" name="Google Shape;203;p3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segurança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artefatos é responsável por empacotar e armazenar os resultados gerados durante o processo de build.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Empacotamento da aplicação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Geração de arquivos de distribuição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Versionamento dos artefatos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Armazenamento em repositórios de artefatos</a:t>
            </a:r>
            <a:endParaRPr/>
          </a:p>
        </p:txBody>
      </p:sp>
      <p:sp>
        <p:nvSpPr>
          <p:cNvPr id="210" name="Google Shape;210;p3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Artefatos (Package)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O pipeline de deploy é responsável por publicar automaticamente o software em um ambiente de execução após as etapas de validação.</a:t>
            </a:r>
            <a:endParaRPr sz="3000"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Principais funções</a:t>
            </a:r>
            <a:endParaRPr sz="30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Preparação do ambiente de destino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Publicação do artefato gerado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Configuração de variáveis e parâmetros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Execução do deploy automatizado</a:t>
            </a:r>
            <a:endParaRPr sz="2200"/>
          </a:p>
        </p:txBody>
      </p:sp>
      <p:sp>
        <p:nvSpPr>
          <p:cNvPr id="217" name="Google Shape;217;p3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Deploy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O pipeline de release é responsável por preparar e disponibilizar uma versão específica do software para os usuários ou para um ambiente de produção.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Principais funções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Criação e identificação de versões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Publicação de releases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Controle das versões disponibilizadas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Monitoramento da aplicação em produção</a:t>
            </a:r>
            <a:endParaRPr sz="2100"/>
          </a:p>
        </p:txBody>
      </p:sp>
      <p:sp>
        <p:nvSpPr>
          <p:cNvPr id="224" name="Google Shape;224;p3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</a:t>
            </a:r>
            <a:r>
              <a:rPr lang="pt-BR"/>
              <a:t>Release e Monitoramento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 prático utilizando GitHub Actions para automatizar uma pipeline de CI/CD.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Cada etapa é executada automaticamente e uma falha interrompe o fluxo.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Link: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github.com/deivisontakatu/projeto-pipelines-devops</a:t>
            </a:r>
            <a:endParaRPr/>
          </a:p>
          <a:p>
            <a:pPr indent="0" lvl="0" marL="45720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Projeto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É uma plataforma de automação integrada ao GitHub, permitindo criar e executar fluxos de trabalho diretamente associados aos repositórios de código.</a:t>
            </a:r>
            <a:endParaRPr sz="31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100"/>
              <a:t>Os workflows podem ser configurados de acordo com eventos do repositório, como push, pull request, criação de tags ou releases.</a:t>
            </a:r>
            <a:endParaRPr sz="3100"/>
          </a:p>
        </p:txBody>
      </p:sp>
      <p:sp>
        <p:nvSpPr>
          <p:cNvPr id="238" name="Google Shape;238;p3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É o catálogo de Actions, ferramentas e extensões que podem ser utilizadas nos workflows do GitHub Actions.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Permite encontrar soluções prontas para build, testes, qualidade, segurança, deploy, cache e outras etapas da pipeline.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As Actions podem ser desenvolvidas pelo GitHub, parceiros ou pela comunidade.</a:t>
            </a:r>
            <a:endParaRPr sz="2800"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sz="2800"/>
              <a:t>GitHub Marketplace: </a:t>
            </a:r>
            <a:r>
              <a:rPr lang="pt-BR" sz="2700" u="sng">
                <a:solidFill>
                  <a:schemeClr val="hlink"/>
                </a:solidFill>
                <a:hlinkClick r:id="rId3"/>
              </a:rPr>
              <a:t>github.com/marketplace?type=actions</a:t>
            </a:r>
            <a:endParaRPr sz="2700"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 Marktplace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252" name="Google Shape;252;p41"/>
          <p:cNvGrpSpPr/>
          <p:nvPr/>
        </p:nvGrpSpPr>
        <p:grpSpPr>
          <a:xfrm>
            <a:off x="830164" y="1836992"/>
            <a:ext cx="5146498" cy="1795413"/>
            <a:chOff x="4667250" y="952500"/>
            <a:chExt cx="4095900" cy="1428900"/>
          </a:xfrm>
        </p:grpSpPr>
        <p:sp>
          <p:nvSpPr>
            <p:cNvPr id="253" name="Google Shape;253;p4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Integra desenvolvimento, testes e operações por meio da automação, acelerando entregas de software com maior qualidade, estabilidade e redução de falhas.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41"/>
          <p:cNvGrpSpPr/>
          <p:nvPr/>
        </p:nvGrpSpPr>
        <p:grpSpPr>
          <a:xfrm>
            <a:off x="829918" y="4001987"/>
            <a:ext cx="10532171" cy="2154269"/>
            <a:chOff x="381000" y="2571750"/>
            <a:chExt cx="8382150" cy="1714500"/>
          </a:xfrm>
        </p:grpSpPr>
        <p:sp>
          <p:nvSpPr>
            <p:cNvPr id="256" name="Google Shape;256;p41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2025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1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62">
                  <a:solidFill>
                    <a:srgbClr val="F3F3F3"/>
                  </a:solidFill>
                </a:rPr>
                <a:t>O Papel das Pipelines</a:t>
              </a:r>
              <a:endParaRPr b="1" sz="2262">
                <a:solidFill>
                  <a:srgbClr val="F3F3F3"/>
                </a:solidFill>
              </a:endParaRPr>
            </a:p>
            <a:p>
              <a:pPr indent="574465" lvl="0" marL="0" rtl="0" algn="just">
                <a:spcBef>
                  <a:spcPts val="942"/>
                </a:spcBef>
                <a:spcAft>
                  <a:spcPts val="0"/>
                </a:spcAft>
                <a:buNone/>
              </a:pPr>
              <a:r>
                <a:rPr lang="pt-BR" sz="1508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508">
                <a:solidFill>
                  <a:srgbClr val="F3F3F3"/>
                </a:solidFill>
              </a:endParaRPr>
            </a:p>
          </p:txBody>
        </p:sp>
        <p:pic>
          <p:nvPicPr>
            <p:cNvPr descr="A high-tech digital visualization of a software delivery pipeline with glowing nodes and connecting lines, professional corporate style, dark theme." id="258" name="Google Shape;258;p41"/>
            <p:cNvPicPr preferRelativeResize="0"/>
            <p:nvPr/>
          </p:nvPicPr>
          <p:blipFill rotWithShape="1">
            <a:blip r:embed="rId3">
              <a:alphaModFix/>
            </a:blip>
            <a:srcRect b="4288" l="0" r="0" t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fmla="val 5555" name="adj"/>
              </a:avLst>
            </a:prstGeom>
            <a:noFill/>
            <a:ln>
              <a:noFill/>
            </a:ln>
          </p:spPr>
        </p:pic>
      </p:grpSp>
      <p:sp>
        <p:nvSpPr>
          <p:cNvPr id="259" name="Google Shape;259;p41"/>
          <p:cNvSpPr txBox="1"/>
          <p:nvPr/>
        </p:nvSpPr>
        <p:spPr>
          <a:xfrm>
            <a:off x="830007" y="6156181"/>
            <a:ext cx="10531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“Pipelines promovem qualidade contínua ao longo de todo o processo de entrega” SATO (2014).</a:t>
            </a:r>
            <a:endParaRPr i="1" sz="1559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41"/>
          <p:cNvGrpSpPr/>
          <p:nvPr/>
        </p:nvGrpSpPr>
        <p:grpSpPr>
          <a:xfrm>
            <a:off x="6215591" y="1837008"/>
            <a:ext cx="5146498" cy="1795413"/>
            <a:chOff x="4667250" y="952500"/>
            <a:chExt cx="4095900" cy="1428900"/>
          </a:xfrm>
        </p:grpSpPr>
        <p:sp>
          <p:nvSpPr>
            <p:cNvPr id="261" name="Google Shape;261;p4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Definição de Pipeline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Sequência automatizada de estágios responsável por conduzir o software desde o commit até o deploy de forma confiável.</a:t>
              </a:r>
              <a:endParaRPr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i="1"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Humble e Priklandnicki (2013).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269" name="Google Shape;269;p42"/>
          <p:cNvGrpSpPr/>
          <p:nvPr/>
        </p:nvGrpSpPr>
        <p:grpSpPr>
          <a:xfrm>
            <a:off x="380899" y="2271772"/>
            <a:ext cx="5508986" cy="2837383"/>
            <a:chOff x="381000" y="2095500"/>
            <a:chExt cx="4095900" cy="2286000"/>
          </a:xfrm>
        </p:grpSpPr>
        <p:sp>
          <p:nvSpPr>
            <p:cNvPr id="270" name="Google Shape;270;p42"/>
            <p:cNvSpPr/>
            <p:nvPr/>
          </p:nvSpPr>
          <p:spPr>
            <a:xfrm>
              <a:off x="38100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28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271" name="Google Shape;271;p42"/>
            <p:cNvSpPr txBox="1"/>
            <p:nvPr/>
          </p:nvSpPr>
          <p:spPr>
            <a:xfrm>
              <a:off x="571500" y="2286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2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Gatilhos (Workflows)</a:t>
              </a:r>
              <a:endParaRPr b="1" sz="242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 txBox="1"/>
            <p:nvPr/>
          </p:nvSpPr>
          <p:spPr>
            <a:xfrm>
              <a:off x="571500" y="2714625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Iniciam automaticamente em ações como: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807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Push de código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Pull Requests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Criação de Releases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Publicação de Tags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42"/>
          <p:cNvGrpSpPr/>
          <p:nvPr/>
        </p:nvGrpSpPr>
        <p:grpSpPr>
          <a:xfrm>
            <a:off x="6145906" y="2271772"/>
            <a:ext cx="5508986" cy="2837383"/>
            <a:chOff x="4667250" y="2095500"/>
            <a:chExt cx="4095900" cy="2286000"/>
          </a:xfrm>
        </p:grpSpPr>
        <p:sp>
          <p:nvSpPr>
            <p:cNvPr id="274" name="Google Shape;274;p42"/>
            <p:cNvSpPr/>
            <p:nvPr/>
          </p:nvSpPr>
          <p:spPr>
            <a:xfrm>
              <a:off x="466725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0D1117"/>
            </a:solidFill>
            <a:ln cap="flat" cmpd="sng" w="128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2"/>
            <p:cNvSpPr txBox="1"/>
            <p:nvPr/>
          </p:nvSpPr>
          <p:spPr>
            <a:xfrm>
              <a:off x="4857750" y="22860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7D85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É uma ferramenta nativa do GitHub que permite automatizar processos de integração contínua, testes e deploy de aplicações.</a:t>
              </a:r>
              <a:endParaRPr sz="1749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t/>
              </a:r>
              <a:endParaRPr sz="1480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[push]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jobs: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62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12459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runs-on: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pt-BR" sz="1749">
                  <a:solidFill>
                    <a:srgbClr val="A5D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ubuntu-latest</a:t>
              </a:r>
              <a:endParaRPr sz="1749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6" name="Google Shape;276;p42"/>
          <p:cNvGrpSpPr/>
          <p:nvPr/>
        </p:nvGrpSpPr>
        <p:grpSpPr>
          <a:xfrm>
            <a:off x="381000" y="5301427"/>
            <a:ext cx="11273790" cy="512445"/>
            <a:chOff x="381000" y="4524375"/>
            <a:chExt cx="8382000" cy="381000"/>
          </a:xfrm>
        </p:grpSpPr>
        <p:sp>
          <p:nvSpPr>
            <p:cNvPr id="277" name="Google Shape;277;p42"/>
            <p:cNvSpPr/>
            <p:nvPr/>
          </p:nvSpPr>
          <p:spPr>
            <a:xfrm>
              <a:off x="381000" y="4524375"/>
              <a:ext cx="8382000" cy="381000"/>
            </a:xfrm>
            <a:prstGeom prst="roundRect">
              <a:avLst>
                <a:gd fmla="val 2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278" name="Google Shape;278;p42"/>
            <p:cNvSpPr txBox="1"/>
            <p:nvPr/>
          </p:nvSpPr>
          <p:spPr>
            <a:xfrm>
              <a:off x="381000" y="4524375"/>
              <a:ext cx="8382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749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Exemplo: </a:t>
              </a:r>
              <a:r>
                <a:rPr lang="pt-BR" sz="1749">
                  <a:solidFill>
                    <a:srgbClr val="434343"/>
                  </a:solidFill>
                </a:rPr>
                <a:t>Execução da pipeline DevOps com GitHub Actions.</a:t>
              </a:r>
              <a:endParaRPr sz="1749"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Integrem uma pipeline ao projeto utilizando o GitHub Actions, configurando a automação para que seja executada sempre que for realizado um novo push na branch principal (main).</a:t>
            </a:r>
            <a:endParaRPr sz="28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2800"/>
              <a:t>Em seguida, busquem repositórios no Github que contenham a integração de Pipeline e realizem uma </a:t>
            </a:r>
            <a:r>
              <a:rPr lang="pt-BR" sz="2800"/>
              <a:t>análise</a:t>
            </a:r>
            <a:r>
              <a:rPr lang="pt-BR" sz="2800"/>
              <a:t> de pelo menos três projetos, destacando </a:t>
            </a:r>
            <a:r>
              <a:rPr lang="pt-BR" sz="2800"/>
              <a:t>características</a:t>
            </a:r>
            <a:r>
              <a:rPr lang="pt-BR" sz="2800"/>
              <a:t>, </a:t>
            </a:r>
            <a:r>
              <a:rPr lang="pt-BR" sz="2800"/>
              <a:t>funcionalidades, gatilhos e histórico.</a:t>
            </a:r>
            <a:endParaRPr sz="2800"/>
          </a:p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Revisão Ferramentas e Pipelines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306" name="Google Shape;306;p46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