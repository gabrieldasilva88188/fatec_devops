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embeddedFontLst>
    <p:embeddedFont>
      <p:font typeface="Raleway"/>
      <p:regular r:id="rId43"/>
      <p:bold r:id="rId44"/>
      <p:italic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Lato"/>
      <p:regular r:id="rId51"/>
      <p:bold r:id="rId52"/>
      <p:italic r:id="rId53"/>
      <p:boldItalic r:id="rId54"/>
    </p:embeddedFont>
    <p:embeddedFont>
      <p:font typeface="Corbel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aleway-bold.fntdata"/><Relationship Id="rId43" Type="http://schemas.openxmlformats.org/officeDocument/2006/relationships/font" Target="fonts/Raleway-regular.fntdata"/><Relationship Id="rId46" Type="http://schemas.openxmlformats.org/officeDocument/2006/relationships/font" Target="fonts/Raleway-boldItalic.fntdata"/><Relationship Id="rId45" Type="http://schemas.openxmlformats.org/officeDocument/2006/relationships/font" Target="fonts/Raleway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5.xml"/><Relationship Id="rId55" Type="http://schemas.openxmlformats.org/officeDocument/2006/relationships/font" Target="fonts/Corbel-regular.fntdata"/><Relationship Id="rId10" Type="http://schemas.openxmlformats.org/officeDocument/2006/relationships/slide" Target="slides/slide4.xml"/><Relationship Id="rId54" Type="http://schemas.openxmlformats.org/officeDocument/2006/relationships/font" Target="fonts/Lato-boldItalic.fntdata"/><Relationship Id="rId13" Type="http://schemas.openxmlformats.org/officeDocument/2006/relationships/slide" Target="slides/slide7.xml"/><Relationship Id="rId57" Type="http://schemas.openxmlformats.org/officeDocument/2006/relationships/font" Target="fonts/Corbel-italic.fntdata"/><Relationship Id="rId12" Type="http://schemas.openxmlformats.org/officeDocument/2006/relationships/slide" Target="slides/slide6.xml"/><Relationship Id="rId56" Type="http://schemas.openxmlformats.org/officeDocument/2006/relationships/font" Target="fonts/Corbel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ea76ad9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ea76ad9e_0_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6ea76ad9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ea76ad9e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6ea76ad9e_0_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6ea76ad9e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ea76ad9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6ea76ad9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ea76ad9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6ea76ad9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ea76ad9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ea76ad9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ea76ad9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6ea76ad9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ea76ad9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6ea76ad9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ea76ad9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6ea76ad9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6ea76ad9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6ea76ad9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ea76ad9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6ea76ad9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ea76ad9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6ea76ad9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6ea76ad9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6ea76ad9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ea76ad9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6ea76ad9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ea76ad9e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6ea76ad9e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6ea76ad9e_0_8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6ea76ad9e_0_8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6ea76ad9e_0_8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ea76ad9e_0_8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6ea76ad9e_0_8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6ea76ad9e_0_8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ea76ad9e_0_8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6ea76ad9e_0_8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6ea76ad9e_0_8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ea76ad9e_0_8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6ea76ad9e_0_83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6ea76ad9e_0_8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6ea76ad9e_0_8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6ea76ad9e_0_84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6ea76ad9e_0_8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ea76ad9e_0_8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6ea76ad9e_0_84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6ea76ad9e_0_8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6ea76ad9e_0_8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6ea76ad9e_0_85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6ea76ad9e_0_8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ea76ad9e_0_8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6ea76ad9e_0_86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6ea76ad9e_0_8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6ea76ad9e_0_8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6ea76ad9e_0_8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6ea76ad9e_0_8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ea76ad9e_0_8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6ea76ad9e_0_88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6ea76ad9e_0_8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ea76ad9e_0_8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6ea76ad9e_0_8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6ea76ad9e_0_8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6ea76ad9e_0_8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6ea76ad9e_0_89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6ea76ad9e_0_8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ea76ad9e_0_9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6ea76ad9e_0_90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6ea76ad9e_0_9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ea76ad9e_0_9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6ea76ad9e_0_90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6ea76ad9e_0_9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6ea76ad9e_0_9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6ea76ad9e_0_9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6ea76ad9e_0_9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6ea76ad9e_0_9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6ea76ad9e_0_9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6ea76ad9e_0_9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hyperlink" Target="https://github.com/torvald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hyperlink" Target="https://git-scm.com/download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Conceitos de Integração e Entrega Contínua de Software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CI;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Continuous Delivery;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Continuous Deployment;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Versionamento;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 e Tags;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Deploy;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 prática.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Entregas demoradas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Muitos erros em produção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Falta de comunicação entre equipes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Processos manuais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Dificuldade para corrigir bugs rapidamente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Atualizações geram medo e instabilidade</a:t>
            </a:r>
            <a:endParaRPr sz="2500"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2500"/>
              <a:t>O sistema funcionava no computador do desenvolvedor, mas dá erro no servidor.]</a:t>
            </a:r>
            <a:endParaRPr sz="2500"/>
          </a:p>
        </p:txBody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de entregar software</a:t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7206175" y="2084475"/>
            <a:ext cx="4280100" cy="2353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/>
              <a:t>Antes do DevOps, as áreas de desenvolvimento e infraestrutura trabalhavam separados.</a:t>
            </a:r>
            <a:br>
              <a:rPr lang="pt-BR" sz="1500"/>
            </a:br>
            <a:r>
              <a:rPr lang="pt-BR" sz="1500"/>
              <a:t> Isso causava atrasos, falhas e dificuldade para publicar novas versões do sistema.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 de entregar software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 rotWithShape="1">
          <a:blip r:embed="rId3">
            <a:alphaModFix/>
          </a:blip>
          <a:srcRect b="11340" l="0" r="0" t="0"/>
          <a:stretch/>
        </p:blipFill>
        <p:spPr>
          <a:xfrm>
            <a:off x="2004463" y="1690600"/>
            <a:ext cx="8183075" cy="483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DevOps: O Ciclo Infinito do Desenvolvimento Moderno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15600" y="1536633"/>
            <a:ext cx="4578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DevOps é uma cultura, filosofia e conjunto de práticas que integra as equipes de Desenvolvimento (DEV) e Operações (OPS), eliminando silos organizacionais e acelerando a entrega de software com qualidade e confiabilidade.</a:t>
            </a:r>
            <a:endParaRPr/>
          </a:p>
        </p:txBody>
      </p:sp>
      <p:pic>
        <p:nvPicPr>
          <p:cNvPr id="125" name="Google Shape;125;p23" title="Dev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400" y="1356967"/>
            <a:ext cx="7339600" cy="4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 - Planejamento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/>
              <a:t>O planejamento é o ponto de partida do loop infinito. Nesta etapa, as equipes definem o que será desenvolvido, como e quando, utilizando metodologias ágeis para organizar prioridades, distribuir tarefas e alinhar expectativas entre produto, desenvolvimento e operações.</a:t>
            </a:r>
            <a:endParaRPr/>
          </a:p>
          <a:p>
            <a:pPr indent="-457200" lvl="0" marL="6096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Jira Gestão de projetos ágeis com sprints, roadmaps e rastreabilidade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Trello Quadros Kanban visuais para equipes menores e gestão de tarefas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Azure Boards Planejamento integrado ao ecossistema Microsoft Azure DevOps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- Codificação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codificação é onde as ideias planejadas ganham forma técnica. Nesta fase, os desenvolvedores escrevem, revisam e versionam o código-fonte de forma colaborativa, garantindo rastreabilidade, segurança e qualidade desde o início.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Boas Práticas de Codificação no DevOps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Escrever código limpo e legível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Utilizar ferramentas de desenvolvimentos (IDEs)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Manter testes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Documentar o projeto.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BUILD - Compilação e Build Automatizado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Build transforma o código-fonte em um artefato executável — um arquivo JAR, imagem Docker, pacote NPM ou binário — pronto para ser testado e implantado. A automação deste processo elimina erros humanos e garante builds consistentes e reproduzíveis. Etapas: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Compilação: transformação do código-fonte em bytecode ou binário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Resolução de dependências: download automático de bibliotecas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Empacotamento: geração de JAR, WAR, ZIP, imagem Docker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Análise estática: verificação de qualidade de código (SonarQube)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Publicação de artefato: versionamento e armazenamento seguro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TEST - Testes Automatizados e Qualidade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Testes automatizados são o guardião da qualidade no ciclo DevOps. Ao integrar testes diretamente no pipeline de CI/CD, problemas são detectados rapidamente - antes de chegarem ao usuário final. O objetivo é garantir que cada build seja confiável, funcional e seguro.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plataforma de delivery executa +3.000 testes automatizados a cada novo deploy. O pipeline válida: cálculo de frete, processamento de pagamentos, notificações push e fluxo completo de pedido - tudo em menos de 8 minutos, sem intervenção humana.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RELEASE - Liberação e Controle de Versões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Release é o ponto de decisão no pipeline DevOps: o software foi desenvolvido, compilado e testado - agora precisa ser aprovado, versionado e preparado para produção. É o momento em que qualidade e governança garantem que apenas código confiável avança.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No Release, o artefato gerado no Build recebe um número de versão semântica (ex: v2.4.1) seguindo o padrão Major.Minor.Patch. Gates de qualidade (Quality Gates) verificam cobertura de testes, análise de segurança e aprovação manual de stakeholders antes de avançar.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DEPLOY - Implantação Automatizada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Deploy é o momento em que o software aprovado é implantado nos ambientes de produção de forma automatizada, rápida e confiável. Com a cultura DevOps, implantações que antes levavam dias agora acontecem em minutos — com risco reduzido e reversão automática em caso de falha.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empresa de streaming possui 47 microsserviços independentes. Com Kubernetes no AWS EKS, cada serviço é implantado automaticamente via pipeline GitLab: a imagem Docker é construída, publicada no ECR (registry AWS) e o Kubernetes atualiza os pods em rolling update — sem downtime e com rollback automático se o health check falhar.;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OPERATE - Operação e Gestão de Infraestrutura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Garante que a aplicação em produção permaneça estável, disponível e escalável. Com práticas de automação operacional, as equipes de Ops deixam de apagar incêndios manualmente e passam a gerenciar infraestrutura como código, respondendo proativamente a mudanças de demanda.</a:t>
            </a:r>
            <a:endParaRPr/>
          </a:p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Exemplo</a:t>
            </a:r>
            <a:r>
              <a:rPr lang="pt-BR"/>
              <a:t>: Uma plataforma de streaming como o modelo Netflix opera com milhares de servidores globais. Durante horários de pico (novelas, jogos ao vivo), o Kubernetes aumenta automaticamente o número de réplicas dos serviços de transcodificação e entrega de conteúdo. O balanceamento de carga distribui requisições entre instâncias saudáveis, enquanto o Ansible garante configurações uniformes em todos os nós.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MONITOR - Observabilidade e Monitoramento Contínuo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Monitoramento fecha o loop infinito do DevOps. É a etapa onde a equipe obtém visibilidade total do sistema em produção - coletando métricas, logs e traces para detectar anomalias, entender comportamentos e alimentar o próximo ciclo de planejamento com dados reais.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4846367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75" name="Google Shape;175;p31"/>
          <p:cNvSpPr/>
          <p:nvPr/>
        </p:nvSpPr>
        <p:spPr>
          <a:xfrm>
            <a:off x="505770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📊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Métricas</a:t>
            </a:r>
            <a:endParaRPr i="0" sz="1900" u="none" cap="none" strike="noStrike"/>
          </a:p>
        </p:txBody>
      </p:sp>
      <p:sp>
        <p:nvSpPr>
          <p:cNvPr id="176" name="Google Shape;176;p31"/>
          <p:cNvSpPr/>
          <p:nvPr/>
        </p:nvSpPr>
        <p:spPr>
          <a:xfrm>
            <a:off x="5037867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Dados numéricos sobre o estado do sistema: CPU, memória, latência, taxa de erro, requisições/segundo</a:t>
            </a:r>
            <a:endParaRPr i="0" sz="1400" u="none" cap="none" strike="noStrike"/>
          </a:p>
        </p:txBody>
      </p:sp>
      <p:sp>
        <p:nvSpPr>
          <p:cNvPr id="177" name="Google Shape;177;p31"/>
          <p:cNvSpPr/>
          <p:nvPr/>
        </p:nvSpPr>
        <p:spPr>
          <a:xfrm>
            <a:off x="8373606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78" name="Google Shape;178;p31"/>
          <p:cNvSpPr/>
          <p:nvPr/>
        </p:nvSpPr>
        <p:spPr>
          <a:xfrm>
            <a:off x="895031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📝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Logs</a:t>
            </a:r>
            <a:endParaRPr i="0" sz="1900" u="none" cap="none" strike="noStrike"/>
          </a:p>
        </p:txBody>
      </p:sp>
      <p:sp>
        <p:nvSpPr>
          <p:cNvPr id="179" name="Google Shape;179;p31"/>
          <p:cNvSpPr/>
          <p:nvPr/>
        </p:nvSpPr>
        <p:spPr>
          <a:xfrm>
            <a:off x="8565106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Registros textuais de eventos do sistema: erros, transações, autenticações e ações de usuários</a:t>
            </a:r>
            <a:endParaRPr i="0" sz="1400" u="none" cap="none" strike="noStrike"/>
          </a:p>
        </p:txBody>
      </p:sp>
      <p:sp>
        <p:nvSpPr>
          <p:cNvPr id="180" name="Google Shape;180;p31"/>
          <p:cNvSpPr/>
          <p:nvPr/>
        </p:nvSpPr>
        <p:spPr>
          <a:xfrm>
            <a:off x="4846367" y="5365312"/>
            <a:ext cx="6929700" cy="1280400"/>
          </a:xfrm>
          <a:prstGeom prst="roundRect">
            <a:avLst>
              <a:gd fmla="val 5948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81" name="Google Shape;181;p31"/>
          <p:cNvSpPr/>
          <p:nvPr/>
        </p:nvSpPr>
        <p:spPr>
          <a:xfrm>
            <a:off x="5037867" y="5556813"/>
            <a:ext cx="226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None/>
            </a:pPr>
            <a:r>
              <a:rPr i="0" lang="pt-BR" sz="1700" u="none" cap="none" strike="noStrike">
                <a:solidFill>
                  <a:srgbClr val="000000"/>
                </a:solidFill>
              </a:rPr>
              <a:t>🔍</a:t>
            </a:r>
            <a:r>
              <a:rPr i="0" lang="pt-BR" sz="1700" u="none" cap="none" strike="noStrike">
                <a:solidFill>
                  <a:srgbClr val="3C3939"/>
                </a:solidFill>
              </a:rPr>
              <a:t> Traces</a:t>
            </a:r>
            <a:endParaRPr i="0" sz="1700" u="none" cap="none" strike="noStrike"/>
          </a:p>
        </p:txBody>
      </p:sp>
      <p:sp>
        <p:nvSpPr>
          <p:cNvPr id="182" name="Google Shape;182;p31"/>
          <p:cNvSpPr/>
          <p:nvPr/>
        </p:nvSpPr>
        <p:spPr>
          <a:xfrm>
            <a:off x="5037867" y="5964821"/>
            <a:ext cx="6547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Rastreamento do caminho de uma requisição através de todos os serviços envolvidos no processamento</a:t>
            </a:r>
            <a:endParaRPr i="0" sz="14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554133" y="791156"/>
            <a:ext cx="15147600" cy="10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Contínua (CI)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554127" y="2048848"/>
            <a:ext cx="11222100" cy="404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Prática de integrar alterações de código frequentemente em um repositório compartilhado.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Cada novo commit executa automaticamente: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Build da aplicação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Testes automatizados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Validação do código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Verificação de falhas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 </a:t>
            </a:r>
            <a:r>
              <a:rPr b="1" lang="pt-BR"/>
              <a:t>Objetivo</a:t>
            </a:r>
            <a:r>
              <a:rPr lang="pt-BR"/>
              <a:t>: detectar problemas cedo e sempre poder voltar versão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554133" y="791156"/>
            <a:ext cx="15147600" cy="10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 Contínua (CD)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554125" y="2048850"/>
            <a:ext cx="11222100" cy="404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-43434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Prática de automatizar a preparação e disponibilização do software para produção de forma rápida e confiável.</a:t>
            </a:r>
            <a:endParaRPr/>
          </a:p>
          <a:p>
            <a:pPr indent="-43434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Cada nova versão aprovada executa automaticamente:</a:t>
            </a:r>
            <a:endParaRPr/>
          </a:p>
          <a:p>
            <a:pPr indent="-407353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Build da aplicação</a:t>
            </a:r>
            <a:endParaRPr/>
          </a:p>
          <a:p>
            <a:pPr indent="-407353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Testes automatizados</a:t>
            </a:r>
            <a:endParaRPr/>
          </a:p>
          <a:p>
            <a:pPr indent="-407353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Validação do ambiente</a:t>
            </a:r>
            <a:endParaRPr/>
          </a:p>
          <a:p>
            <a:pPr indent="-407353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Geração da release</a:t>
            </a:r>
            <a:endParaRPr/>
          </a:p>
          <a:p>
            <a:pPr indent="-407353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Preparação para deploy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/>
              <a:t>Objetivo</a:t>
            </a:r>
            <a:r>
              <a:rPr lang="pt-BR"/>
              <a:t>: Reduzir riscos na entrega e manter o software sempre pronto para publicação em produção.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554133" y="791156"/>
            <a:ext cx="15147600" cy="10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Deploy Contínuo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554127" y="2048848"/>
            <a:ext cx="11222100" cy="404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Prática de publicar automaticamente novas versões em produção após aprovação nos testes e validações do pipeline.</a:t>
            </a:r>
            <a:endParaRPr/>
          </a:p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Cada alteração aprovada executa automaticamente:</a:t>
            </a:r>
            <a:endParaRPr/>
          </a:p>
          <a:p>
            <a:pPr indent="-416401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Build da aplicação</a:t>
            </a:r>
            <a:endParaRPr/>
          </a:p>
          <a:p>
            <a:pPr indent="-416401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Testes automatizados</a:t>
            </a:r>
            <a:endParaRPr/>
          </a:p>
          <a:p>
            <a:pPr indent="-416401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Validação de qualidade</a:t>
            </a:r>
            <a:endParaRPr/>
          </a:p>
          <a:p>
            <a:pPr indent="-416401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Deploy em produção</a:t>
            </a:r>
            <a:endParaRPr/>
          </a:p>
          <a:p>
            <a:pPr indent="-416401" lvl="1" marL="12192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Monitoramento da aplicação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/>
              <a:t>Objetivo</a:t>
            </a:r>
            <a:r>
              <a:rPr lang="pt-BR"/>
              <a:t>: Automatizar o processo de publicação do software em produção.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O versionamento é o processo de atribuir um identificador único a cada versão de um documento ou software.</a:t>
            </a:r>
            <a:endParaRPr sz="30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Pode ser numérico (ex: v1.0, v1.1, v2.0) ou baseado em datas (ex: 2023-10-01).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Registra o que foi alterado, por quem e quando.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Garante rastreabilidade e auditoria completa das mudanças.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Facilita a organização, colaboração e recuperação de versões anteriores.</a:t>
            </a:r>
            <a:endParaRPr sz="3000"/>
          </a:p>
        </p:txBody>
      </p:sp>
      <p:sp>
        <p:nvSpPr>
          <p:cNvPr id="207" name="Google Shape;207;p3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Versionamento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Versionamento Semântico (“Semantic Versioning” ou SemVer) é um sistema de controle de versão utilizado para indicar claramente as mudanças em um software.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As versões seguem o padrão MAJOR.MINOR.PATCH (Ex: 2.1.3), onde: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MAJOR (Ápice) - Mudanças incompatíveis com versões anteriores.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MINOR (Incremento) - Novas funcionalidades, mas compatível com versões anteriores.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PATCH (Correção) - Correção de bugs sem alteração na API.</a:t>
            </a:r>
            <a:endParaRPr sz="2400"/>
          </a:p>
        </p:txBody>
      </p:sp>
      <p:sp>
        <p:nvSpPr>
          <p:cNvPr id="214" name="Google Shape;214;p3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Versionamento Semântico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Refatoração ou Nova Função: 1.0.0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pt-BR"/>
              <a:t>Melhorias: 0.1.0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pt-BR"/>
              <a:t>Bug Fix: 0.0.1</a:t>
            </a:r>
            <a:endParaRPr/>
          </a:p>
          <a:p>
            <a:pPr indent="0" lvl="0" marL="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Versionamento Semântico</a:t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1975" y="2380950"/>
            <a:ext cx="5214475" cy="38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7"/>
          <p:cNvSpPr txBox="1"/>
          <p:nvPr/>
        </p:nvSpPr>
        <p:spPr>
          <a:xfrm>
            <a:off x="6253925" y="619814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0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b="0" i="0" sz="1600" u="none" cap="none" strike="noStrike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Exemplo Prático:</a:t>
            </a:r>
            <a:endParaRPr sz="29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1.0.0 → Primeira versão estável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1.1.0 → Adição de funcionalidade compatível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1.1.1 → Correção de bug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2.0.0 → Mudança incompatível com versões anteriores</a:t>
            </a:r>
            <a:endParaRPr sz="21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Vantagens do Versionamento Semântico:</a:t>
            </a:r>
            <a:endParaRPr sz="29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Facilita a gestão de dependências.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Clareza para desenvolvedores e usuários.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Ajuda na manutenção e previsibilidade do software.</a:t>
            </a:r>
            <a:endParaRPr sz="2900"/>
          </a:p>
        </p:txBody>
      </p:sp>
      <p:sp>
        <p:nvSpPr>
          <p:cNvPr id="230" name="Google Shape;230;p3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Versionamento Semântico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Bug Fix – Correção de erros no código.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New Feature – Adição de uma nova funcionalidade ao software.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Feature Enhancement – Melhorias em funcionalidades existentes.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Refactoring – Reorganização do código para torná-lo mais limpo e eficiente.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Performance – Otimização para melhorar velocidade e eficiência.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Security Patch – Correção de vulnerabilidades de segurança.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Dependency Update – Atualização de bibliotecas e frameworks utilizados no projeto.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Adding Tests – Inclusão de testes automatizados para garantir qualidade do código.</a:t>
            </a:r>
            <a:endParaRPr sz="2400"/>
          </a:p>
        </p:txBody>
      </p:sp>
      <p:sp>
        <p:nvSpPr>
          <p:cNvPr id="237" name="Google Shape;237;p3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 de Alterações no Código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Importância do Versionamento</a:t>
            </a:r>
            <a:endParaRPr/>
          </a:p>
        </p:txBody>
      </p:sp>
      <p:sp>
        <p:nvSpPr>
          <p:cNvPr id="244" name="Google Shape;244;p40"/>
          <p:cNvSpPr txBox="1"/>
          <p:nvPr/>
        </p:nvSpPr>
        <p:spPr>
          <a:xfrm>
            <a:off x="551375" y="1818250"/>
            <a:ext cx="5486400" cy="4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3055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b="1" lang="pt-BR" sz="1520">
                <a:latin typeface="Calibri"/>
                <a:ea typeface="Calibri"/>
                <a:cs typeface="Calibri"/>
                <a:sym typeface="Calibri"/>
              </a:rPr>
              <a:t>Controle de Mudanças</a:t>
            </a:r>
            <a:endParaRPr b="1" sz="152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Permite que múltiplos colaboradores trabalhem no mesmo projeto.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Facilita a integração de alterações e evita perda de trabalho.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b="1" lang="pt-BR" sz="1520">
                <a:latin typeface="Calibri"/>
                <a:ea typeface="Calibri"/>
                <a:cs typeface="Calibri"/>
                <a:sym typeface="Calibri"/>
              </a:rPr>
              <a:t>Histórico e Auditabilidade</a:t>
            </a:r>
            <a:endParaRPr b="1" sz="152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Registra todas as modificações feitas em um arquivo.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Essencial para auditorias e conformidade regulatória.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b="1" lang="pt-BR" sz="1520">
                <a:latin typeface="Calibri"/>
                <a:ea typeface="Calibri"/>
                <a:cs typeface="Calibri"/>
                <a:sym typeface="Calibri"/>
              </a:rPr>
              <a:t>Recuperação de Dados</a:t>
            </a:r>
            <a:endParaRPr b="1" sz="152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Permite reverter para versões anteriores em caso de erro.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Minimiza perda de trabalho e necessidade de retrabalho.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b="1" lang="pt-BR" sz="1520">
                <a:latin typeface="Calibri"/>
                <a:ea typeface="Calibri"/>
                <a:cs typeface="Calibri"/>
                <a:sym typeface="Calibri"/>
              </a:rPr>
              <a:t>Colaboração Eficiente</a:t>
            </a:r>
            <a:endParaRPr b="1" sz="152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Melhora a comunicação entre membros da equipe.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Calibri"/>
              <a:buChar char="▪"/>
            </a:pPr>
            <a:r>
              <a:rPr lang="pt-BR" sz="1330">
                <a:latin typeface="Calibri"/>
                <a:ea typeface="Calibri"/>
                <a:cs typeface="Calibri"/>
                <a:sym typeface="Calibri"/>
              </a:rPr>
              <a:t>Uso de branches para testar mudanças sem afetar a versão principal.</a:t>
            </a:r>
            <a:endParaRPr sz="13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6037772" y="1818250"/>
            <a:ext cx="5602800" cy="4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405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b="1" lang="pt-BR" sz="1620">
                <a:latin typeface="Calibri"/>
                <a:ea typeface="Calibri"/>
                <a:cs typeface="Calibri"/>
                <a:sym typeface="Calibri"/>
              </a:rPr>
              <a:t>Gerenciamento da Qualidade</a:t>
            </a:r>
            <a:endParaRPr b="1" sz="1620">
              <a:latin typeface="Calibri"/>
              <a:ea typeface="Calibri"/>
              <a:cs typeface="Calibri"/>
              <a:sym typeface="Calibri"/>
            </a:endParaRPr>
          </a:p>
          <a:p>
            <a:pPr indent="-31940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lang="pt-BR" sz="1430">
                <a:latin typeface="Calibri"/>
                <a:ea typeface="Calibri"/>
                <a:cs typeface="Calibri"/>
                <a:sym typeface="Calibri"/>
              </a:rPr>
              <a:t>Permite testar versões antes da implementação final.</a:t>
            </a:r>
            <a:endParaRPr sz="1430">
              <a:latin typeface="Calibri"/>
              <a:ea typeface="Calibri"/>
              <a:cs typeface="Calibri"/>
              <a:sym typeface="Calibri"/>
            </a:endParaRPr>
          </a:p>
          <a:p>
            <a:pPr indent="-31940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lang="pt-BR" sz="1430">
                <a:latin typeface="Calibri"/>
                <a:ea typeface="Calibri"/>
                <a:cs typeface="Calibri"/>
                <a:sym typeface="Calibri"/>
              </a:rPr>
              <a:t>Garante que apenas versões validadas sejam disponibilizadas.</a:t>
            </a:r>
            <a:endParaRPr sz="1430">
              <a:latin typeface="Calibri"/>
              <a:ea typeface="Calibri"/>
              <a:cs typeface="Calibri"/>
              <a:sym typeface="Calibri"/>
            </a:endParaRPr>
          </a:p>
          <a:p>
            <a:pPr indent="-3194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b="1" lang="pt-BR" sz="1620">
                <a:latin typeface="Calibri"/>
                <a:ea typeface="Calibri"/>
                <a:cs typeface="Calibri"/>
                <a:sym typeface="Calibri"/>
              </a:rPr>
              <a:t>Aprimoramento Contínuo</a:t>
            </a:r>
            <a:endParaRPr b="1" sz="1620">
              <a:latin typeface="Calibri"/>
              <a:ea typeface="Calibri"/>
              <a:cs typeface="Calibri"/>
              <a:sym typeface="Calibri"/>
            </a:endParaRPr>
          </a:p>
          <a:p>
            <a:pPr indent="-31940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lang="pt-BR" sz="1430">
                <a:latin typeface="Calibri"/>
                <a:ea typeface="Calibri"/>
                <a:cs typeface="Calibri"/>
                <a:sym typeface="Calibri"/>
              </a:rPr>
              <a:t>Possibilita a análise da evolução do projeto ao longo do tempo.</a:t>
            </a:r>
            <a:endParaRPr sz="1430">
              <a:latin typeface="Calibri"/>
              <a:ea typeface="Calibri"/>
              <a:cs typeface="Calibri"/>
              <a:sym typeface="Calibri"/>
            </a:endParaRPr>
          </a:p>
          <a:p>
            <a:pPr indent="-31940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lang="pt-BR" sz="1430">
                <a:latin typeface="Calibri"/>
                <a:ea typeface="Calibri"/>
                <a:cs typeface="Calibri"/>
                <a:sym typeface="Calibri"/>
              </a:rPr>
              <a:t>Identifica padrões de desempenho e oportunidades de melhoria.</a:t>
            </a:r>
            <a:endParaRPr sz="1430">
              <a:latin typeface="Calibri"/>
              <a:ea typeface="Calibri"/>
              <a:cs typeface="Calibri"/>
              <a:sym typeface="Calibri"/>
            </a:endParaRPr>
          </a:p>
          <a:p>
            <a:pPr indent="-3194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b="1" lang="pt-BR" sz="1620">
                <a:latin typeface="Calibri"/>
                <a:ea typeface="Calibri"/>
                <a:cs typeface="Calibri"/>
                <a:sym typeface="Calibri"/>
              </a:rPr>
              <a:t>Integração com Outras Ferramentas</a:t>
            </a:r>
            <a:endParaRPr b="1" sz="1620">
              <a:latin typeface="Calibri"/>
              <a:ea typeface="Calibri"/>
              <a:cs typeface="Calibri"/>
              <a:sym typeface="Calibri"/>
            </a:endParaRPr>
          </a:p>
          <a:p>
            <a:pPr indent="-31940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lang="pt-BR" sz="1430">
                <a:latin typeface="Calibri"/>
                <a:ea typeface="Calibri"/>
                <a:cs typeface="Calibri"/>
                <a:sym typeface="Calibri"/>
              </a:rPr>
              <a:t>Conexão com sistemas de gestão de projetos e integração contínua.</a:t>
            </a:r>
            <a:endParaRPr sz="1430">
              <a:latin typeface="Calibri"/>
              <a:ea typeface="Calibri"/>
              <a:cs typeface="Calibri"/>
              <a:sym typeface="Calibri"/>
            </a:endParaRPr>
          </a:p>
          <a:p>
            <a:pPr indent="-31940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Calibri"/>
              <a:buChar char="▪"/>
            </a:pPr>
            <a:r>
              <a:rPr lang="pt-BR" sz="1430">
                <a:latin typeface="Calibri"/>
                <a:ea typeface="Calibri"/>
                <a:cs typeface="Calibri"/>
                <a:sym typeface="Calibri"/>
              </a:rPr>
              <a:t>Centraliza o fluxo de trabalho e mantém controle das mudanças.</a:t>
            </a:r>
            <a:endParaRPr sz="143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2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62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O que é Git?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Sistema de controle de versão de arquivos.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Instalado no computador e utilizado via linha de comando.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O que o Git pode fazer?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Sincroniza com repositórios online, permitindo baixar e enviar código.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Registra versões do projeto, possibilitando acompanhar mudanças e restaurar versões anteriores.</a:t>
            </a:r>
            <a:endParaRPr sz="2200"/>
          </a:p>
        </p:txBody>
      </p:sp>
      <p:sp>
        <p:nvSpPr>
          <p:cNvPr id="252" name="Google Shape;252;p4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Git</a:t>
            </a:r>
            <a:endParaRPr/>
          </a:p>
        </p:txBody>
      </p:sp>
      <p:pic>
        <p:nvPicPr>
          <p:cNvPr id="253" name="Google Shape;2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8225" y="826974"/>
            <a:ext cx="2395450" cy="27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1"/>
          <p:cNvSpPr txBox="1"/>
          <p:nvPr/>
        </p:nvSpPr>
        <p:spPr>
          <a:xfrm>
            <a:off x="7721050" y="3553071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i="0" lang="pt-BR" sz="16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https://github.com/torvalds</a:t>
            </a:r>
            <a:endParaRPr b="0" i="0" sz="1600" u="none" cap="none" strike="noStrike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o Git</a:t>
            </a:r>
            <a:endParaRPr/>
          </a:p>
        </p:txBody>
      </p:sp>
      <p:pic>
        <p:nvPicPr>
          <p:cNvPr id="261" name="Google Shape;2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950" y="1936350"/>
            <a:ext cx="7120112" cy="422688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2"/>
          <p:cNvSpPr txBox="1"/>
          <p:nvPr/>
        </p:nvSpPr>
        <p:spPr>
          <a:xfrm>
            <a:off x="3535367" y="6163246"/>
            <a:ext cx="5121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300" lIns="82300" spcFirstLastPara="1" rIns="82300" wrap="square" tIns="82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b="1" i="0" lang="pt-BR" sz="144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i="0" lang="pt-BR" sz="144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https://git-scm.com/downloads</a:t>
            </a:r>
            <a:endParaRPr b="0" i="0" sz="1440" u="none" cap="none" strike="noStrike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Escolha a versão do seu sistema operacional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Baixe e execute o instalador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Siga as etapas "Next &gt; Next &gt; Install"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Para testar a instalação: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Abra o Prompt de Comando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Digite git --version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Se aparecer a versão instalada, está correto</a:t>
            </a:r>
            <a:endParaRPr/>
          </a:p>
        </p:txBody>
      </p:sp>
      <p:sp>
        <p:nvSpPr>
          <p:cNvPr id="269" name="Google Shape;269;p4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o Git</a:t>
            </a:r>
            <a:endParaRPr/>
          </a:p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1800" y="2658786"/>
            <a:ext cx="4377050" cy="3428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 txBox="1"/>
          <p:nvPr/>
        </p:nvSpPr>
        <p:spPr>
          <a:xfrm>
            <a:off x="6765413" y="608774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0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b="0" i="0" sz="1600" u="none" cap="none" strike="noStrike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Se solicitado, configure o usuário e e-mail no CMD com os comandos:</a:t>
            </a:r>
            <a:endParaRPr sz="29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git config --global user.name "&lt;Nome&gt;"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git config --global user.email "&lt;Email&gt;"</a:t>
            </a:r>
            <a:endParaRPr sz="21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Abra o VS Code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Vá até a aba de Controle de Código-Fonte (terceiro ícone à esquerda)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Se solicitado, instale o Git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Feche e reabra o VS Code</a:t>
            </a:r>
            <a:endParaRPr sz="2900"/>
          </a:p>
        </p:txBody>
      </p:sp>
      <p:sp>
        <p:nvSpPr>
          <p:cNvPr id="278" name="Google Shape;278;p4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o Git</a:t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 rotWithShape="1">
          <a:blip r:embed="rId3">
            <a:alphaModFix/>
          </a:blip>
          <a:srcRect b="0" l="0" r="0" t="3503"/>
          <a:stretch/>
        </p:blipFill>
        <p:spPr>
          <a:xfrm>
            <a:off x="6832125" y="5141425"/>
            <a:ext cx="3940975" cy="11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4"/>
          <p:cNvSpPr txBox="1"/>
          <p:nvPr/>
        </p:nvSpPr>
        <p:spPr>
          <a:xfrm>
            <a:off x="5957700" y="62614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0" i="0" lang="pt-BR" sz="1600" u="none" cap="none" strike="noStrike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b="0" i="0" sz="1600" u="none" cap="none" strike="noStrike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Crie uma pasta no seu computador (Ex: WebDesign)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Abra a pasta no VS Code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Crie os arquivos index.html, style.css e script.js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Vá até a aba de Controle de Código-Fonte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Clique em Inicializar Repositório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Adicione uma mensagem de commit e clique em Confirmar (Commit)</a:t>
            </a:r>
            <a:endParaRPr sz="2800"/>
          </a:p>
        </p:txBody>
      </p:sp>
      <p:sp>
        <p:nvSpPr>
          <p:cNvPr id="287" name="Google Shape;287;p4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 Repositório no VS Code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Clique em Publicar Branch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Faça login no GitHub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Escolha entre repositório público ou privado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Após a publicação, o código estará acessível no GitHub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Acesse seu perfil no GitHub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Vá até "Repositórios"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Seu projeto deve estar listado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Clique no repositório e verifique os arquivos</a:t>
            </a:r>
            <a:endParaRPr sz="2500"/>
          </a:p>
        </p:txBody>
      </p:sp>
      <p:sp>
        <p:nvSpPr>
          <p:cNvPr id="294" name="Google Shape;294;p4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Publicando no GitHub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que são tags?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pt-BR" sz="2500"/>
              <a:t>Marcadores usados para identificar pontos específicos no histórico do projeto, como versões estáveis (ex: v1.0, v2.0).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Tipos de tags: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pt-BR" sz="2500"/>
              <a:t>Leve (lightweight): Apenas um nome para um commit específico.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pt-BR" sz="2500"/>
              <a:t>Anotada (annotated): Armazena informações adicionais, como data, autor e mensagem.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Uso comum: Marcar releases ou versões importantes do projeto.</a:t>
            </a:r>
            <a:endParaRPr sz="2500"/>
          </a:p>
        </p:txBody>
      </p:sp>
      <p:sp>
        <p:nvSpPr>
          <p:cNvPr id="301" name="Google Shape;301;p4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Tags no Git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O comando git tag lista as tags criadas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Para criar uma tag, basta utilizar o comando git tag &lt;nome da tag&gt;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Exemplo: git tag 1.0.0 -&gt; poderia ser utilizada no primeiro commit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git push origin &lt;nome da tag&gt;, adiciona a tag no último commit</a:t>
            </a:r>
            <a:endParaRPr sz="2600"/>
          </a:p>
          <a:p>
            <a:pPr indent="0" lvl="0" marL="457200" rtl="0" algn="l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2600"/>
              <a:t>Com isso, a cada alteração na aplicação, pode ser detalhado as alterações com maior facilidade, proporcionando uma descrição da alteração e uma sequência de versões desenvolvidas.</a:t>
            </a:r>
            <a:endParaRPr sz="2600"/>
          </a:p>
        </p:txBody>
      </p:sp>
      <p:sp>
        <p:nvSpPr>
          <p:cNvPr id="308" name="Google Shape;308;p4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Versionamento com Tags no GitHub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 sz="2400"/>
              <a:t>Definição</a:t>
            </a:r>
            <a:r>
              <a:rPr lang="pt-BR" sz="2400"/>
              <a:t>: Processo de colocar uma aplicação ou software em produção, tornando-o acessível aos usuários finais.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 sz="2400"/>
              <a:t>Objetivo</a:t>
            </a:r>
            <a:r>
              <a:rPr lang="pt-BR" sz="2400"/>
              <a:t>: Garantir que o software funcione corretamente no ambiente de produção.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 sz="2400"/>
              <a:t>Etapas comuns:</a:t>
            </a:r>
            <a:endParaRPr b="1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Compilação do código.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Configuração do ambiente.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Testes finais.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Publicação.</a:t>
            </a:r>
            <a:endParaRPr/>
          </a:p>
        </p:txBody>
      </p:sp>
      <p:sp>
        <p:nvSpPr>
          <p:cNvPr id="315" name="Google Shape;315;p4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Deploy?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Hospedagem Simplificada: Vercel é uma plataforma focada em facilitar o deploy de sites estáticos e aplicações modernas.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Integração com Git: Conecta-se facilmente com GitHub, GitLab e Bitbucket, realizando deploys automáticos a cada push.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Suporte a Frameworks Modernos: Ideal para aplicações desenvolvidas com Next.js, Nuxt.js, React, Vue e outros frameworks populares.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Deploys Instantâneos: Permite rollback e deploys rápidos, garantindo atualizações ágeis e seguras.</a:t>
            </a:r>
            <a:endParaRPr sz="2500"/>
          </a:p>
        </p:txBody>
      </p:sp>
      <p:sp>
        <p:nvSpPr>
          <p:cNvPr id="322" name="Google Shape;322;p5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Vercel para Deploy e Hospedagem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Nesta atividade, você e seu grupo deverá instalar o Visual Studio Code, criar os arquivos index.html, style.css e script.js copiando os códigos fornecidos para cada um deles e salvando-os na mesma pasta. Em seguida, configure o Git no VS Code para integrar o projeto a um repositório no GitHub, inicializando o versionamento e realizando a publicação do código. Depois, altere o projeto, registre as modificações e salve como uma nova versão utilizando commits e tags. Por fim, documente tudo em um arquivo e realize o envio na plataforma Teams.</a:t>
            </a:r>
            <a:endParaRPr sz="2600"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329" name="Google Shape;329;p5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336" name="Google Shape;336;p5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343" name="Google Shape;343;p5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Conceitos de Integração e Entrega Contínua de Software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350" name="Google Shape;350;p54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