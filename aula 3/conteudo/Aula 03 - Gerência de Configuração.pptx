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Roboto Black"/>
      <p:bold r:id="rId31"/>
      <p:boldItalic r:id="rId32"/>
    </p:embeddedFont>
    <p:embeddedFont>
      <p:font typeface="Roboto"/>
      <p:regular r:id="rId33"/>
      <p:bold r:id="rId34"/>
      <p:italic r:id="rId35"/>
      <p:boldItalic r:id="rId36"/>
    </p:embeddedFont>
    <p:embeddedFont>
      <p:font typeface="Roboto Medium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  <p:embeddedFont>
      <p:font typeface="Poppins"/>
      <p:regular r:id="rId45"/>
      <p:bold r:id="rId46"/>
      <p:italic r:id="rId47"/>
      <p:boldItalic r:id="rId48"/>
    </p:embeddedFont>
    <p:embeddedFont>
      <p:font typeface="Corbel"/>
      <p:regular r:id="rId49"/>
      <p:bold r:id="rId50"/>
      <p:italic r:id="rId51"/>
      <p:boldItalic r:id="rId52"/>
    </p:embeddedFont>
    <p:embeddedFont>
      <p:font typeface="Baskervville"/>
      <p:regular r:id="rId53"/>
      <p:bold r:id="rId54"/>
      <p:italic r:id="rId55"/>
      <p:boldItalic r:id="rId56"/>
    </p:embeddedFont>
    <p:embeddedFont>
      <p:font typeface="Roboto Light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Italic.fntdata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44" Type="http://schemas.openxmlformats.org/officeDocument/2006/relationships/font" Target="fonts/Lato-boldItalic.fntdata"/><Relationship Id="rId43" Type="http://schemas.openxmlformats.org/officeDocument/2006/relationships/font" Target="fonts/Lato-italic.fntdata"/><Relationship Id="rId46" Type="http://schemas.openxmlformats.org/officeDocument/2006/relationships/font" Target="fonts/Poppins-bold.fntdata"/><Relationship Id="rId45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-boldItalic.fntdata"/><Relationship Id="rId47" Type="http://schemas.openxmlformats.org/officeDocument/2006/relationships/font" Target="fonts/Poppins-italic.fntdata"/><Relationship Id="rId49" Type="http://schemas.openxmlformats.org/officeDocument/2006/relationships/font" Target="fonts/Corbe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Black-bold.fntdata"/><Relationship Id="rId30" Type="http://schemas.openxmlformats.org/officeDocument/2006/relationships/font" Target="fonts/Raleway-boldItalic.fntdata"/><Relationship Id="rId33" Type="http://schemas.openxmlformats.org/officeDocument/2006/relationships/font" Target="fonts/Roboto-regular.fntdata"/><Relationship Id="rId32" Type="http://schemas.openxmlformats.org/officeDocument/2006/relationships/font" Target="fonts/RobotoBlack-boldItalic.fntdata"/><Relationship Id="rId35" Type="http://schemas.openxmlformats.org/officeDocument/2006/relationships/font" Target="fonts/Roboto-italic.fntdata"/><Relationship Id="rId34" Type="http://schemas.openxmlformats.org/officeDocument/2006/relationships/font" Target="fonts/Roboto-bold.fntdata"/><Relationship Id="rId37" Type="http://schemas.openxmlformats.org/officeDocument/2006/relationships/font" Target="fonts/RobotoMedium-regular.fntdata"/><Relationship Id="rId36" Type="http://schemas.openxmlformats.org/officeDocument/2006/relationships/font" Target="fonts/Roboto-boldItalic.fntdata"/><Relationship Id="rId39" Type="http://schemas.openxmlformats.org/officeDocument/2006/relationships/font" Target="fonts/RobotoMedium-italic.fntdata"/><Relationship Id="rId38" Type="http://schemas.openxmlformats.org/officeDocument/2006/relationships/font" Target="fonts/RobotoMedium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Light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29" Type="http://schemas.openxmlformats.org/officeDocument/2006/relationships/font" Target="fonts/Raleway-italic.fntdata"/><Relationship Id="rId51" Type="http://schemas.openxmlformats.org/officeDocument/2006/relationships/font" Target="fonts/Corbel-italic.fntdata"/><Relationship Id="rId50" Type="http://schemas.openxmlformats.org/officeDocument/2006/relationships/font" Target="fonts/Corbel-bold.fntdata"/><Relationship Id="rId53" Type="http://schemas.openxmlformats.org/officeDocument/2006/relationships/font" Target="fonts/Baskervville-regular.fntdata"/><Relationship Id="rId52" Type="http://schemas.openxmlformats.org/officeDocument/2006/relationships/font" Target="fonts/Corbel-boldItalic.fntdata"/><Relationship Id="rId11" Type="http://schemas.openxmlformats.org/officeDocument/2006/relationships/slide" Target="slides/slide6.xml"/><Relationship Id="rId55" Type="http://schemas.openxmlformats.org/officeDocument/2006/relationships/font" Target="fonts/Baskervville-italic.fntdata"/><Relationship Id="rId10" Type="http://schemas.openxmlformats.org/officeDocument/2006/relationships/slide" Target="slides/slide5.xml"/><Relationship Id="rId54" Type="http://schemas.openxmlformats.org/officeDocument/2006/relationships/font" Target="fonts/Baskervville-bold.fntdata"/><Relationship Id="rId13" Type="http://schemas.openxmlformats.org/officeDocument/2006/relationships/slide" Target="slides/slide8.xml"/><Relationship Id="rId57" Type="http://schemas.openxmlformats.org/officeDocument/2006/relationships/font" Target="fonts/RobotoLight-regular.fntdata"/><Relationship Id="rId12" Type="http://schemas.openxmlformats.org/officeDocument/2006/relationships/slide" Target="slides/slide7.xml"/><Relationship Id="rId56" Type="http://schemas.openxmlformats.org/officeDocument/2006/relationships/font" Target="fonts/Baskervville-boldItalic.fntdata"/><Relationship Id="rId15" Type="http://schemas.openxmlformats.org/officeDocument/2006/relationships/slide" Target="slides/slide10.xml"/><Relationship Id="rId59" Type="http://schemas.openxmlformats.org/officeDocument/2006/relationships/font" Target="fonts/RobotoLight-italic.fntdata"/><Relationship Id="rId14" Type="http://schemas.openxmlformats.org/officeDocument/2006/relationships/slide" Target="slides/slide9.xml"/><Relationship Id="rId58" Type="http://schemas.openxmlformats.org/officeDocument/2006/relationships/font" Target="fonts/RobotoLigh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73129f0a1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73129f0a1_0_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73129f0a1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3129f0a1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73129f0a1_0_15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73129f0a1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73129f0a1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73129f0a1_0_16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73129f0a1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73129f0a1_0_4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73129f0a1_0_46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73129f0a1_0_4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3129f0a1_0_26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73129f0a1_0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3129f0a1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73129f0a1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3129f0a1_0_27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73129f0a1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73129f0a1_0_28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73129f0a1_0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73129f0a1_0_29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73129f0a1_0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73129f0a1_0_29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73129f0a1_0_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73129f0a1_0_31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73129f0a1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3129f0a1_0_30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73129f0a1_0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73129f0a1_0_31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73129f0a1_0_3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3129f0a1_0_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73129f0a1_0_35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73129f0a1_0_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73129f0a1_0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73129f0a1_0_35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73129f0a1_0_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73129f0a1_0_3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73129f0a1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ea76ad9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6ea76ad9e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6ea76ad9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73129f0a1_8_0)">
  <p:cSld name="Título e corpo (g3f73129f0a1_8_0)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nodejs.org/en/download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search?q=landing+page+react+language%3AJavaScript+stars%3A%3E50&amp;type=repositories" TargetMode="External"/><Relationship Id="rId4" Type="http://schemas.openxmlformats.org/officeDocument/2006/relationships/hyperlink" Target="https://vercel.com/templates" TargetMode="External"/><Relationship Id="rId5" Type="http://schemas.openxmlformats.org/officeDocument/2006/relationships/hyperlink" Target="https://codesandbox.io/search?query=landing+page+reac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hyperlink" Target="https://codesandbox.io/p/sandbox/github/issaafalkattan/React-Landing-Page-Template/tree/master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Gerência de Configuração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55" name="Google Shape;55;p8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problema - Gerenciar Configuração;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que é configuração?;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Itens de configuração;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Node.js;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Projetos React;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Pesquisando Template;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10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70" name="Google Shape;7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0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3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10"/>
          <p:cNvGrpSpPr/>
          <p:nvPr/>
        </p:nvGrpSpPr>
        <p:grpSpPr>
          <a:xfrm>
            <a:off x="571500" y="2200425"/>
            <a:ext cx="4381500" cy="4143300"/>
            <a:chOff x="571500" y="1714500"/>
            <a:chExt cx="4381500" cy="4143300"/>
          </a:xfrm>
        </p:grpSpPr>
        <p:sp>
          <p:nvSpPr>
            <p:cNvPr id="75" name="Google Shape;75;p10"/>
            <p:cNvSpPr txBox="1"/>
            <p:nvPr/>
          </p:nvSpPr>
          <p:spPr>
            <a:xfrm>
              <a:off x="571500" y="1714500"/>
              <a:ext cx="4381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850">
                  <a:solidFill>
                    <a:srgbClr val="59595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Imagine uma equipe com</a:t>
              </a:r>
              <a:endParaRPr b="0" sz="185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0" lang="pt-BR" sz="7400">
                  <a:latin typeface="Roboto Black"/>
                  <a:ea typeface="Roboto Black"/>
                  <a:cs typeface="Roboto Black"/>
                  <a:sym typeface="Roboto Black"/>
                </a:rPr>
                <a:t>5</a:t>
              </a:r>
              <a:r>
                <a:rPr lang="pt-BR" sz="7400">
                  <a:latin typeface="Roboto Black"/>
                  <a:ea typeface="Roboto Black"/>
                  <a:cs typeface="Roboto Black"/>
                  <a:sym typeface="Roboto Black"/>
                </a:rPr>
                <a:t> </a:t>
              </a:r>
              <a:r>
                <a:rPr b="1" lang="pt-BR" sz="222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desenvolvedores...</a:t>
              </a:r>
              <a:endParaRPr b="1" sz="222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" name="Google Shape;76;p10"/>
            <p:cNvSpPr/>
            <p:nvPr/>
          </p:nvSpPr>
          <p:spPr>
            <a:xfrm>
              <a:off x="571500" y="3810000"/>
              <a:ext cx="4381500" cy="2047800"/>
            </a:xfrm>
            <a:prstGeom prst="roundRect">
              <a:avLst>
                <a:gd fmla="val 5581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0"/>
            <p:cNvSpPr txBox="1"/>
            <p:nvPr/>
          </p:nvSpPr>
          <p:spPr>
            <a:xfrm>
              <a:off x="571500" y="3810000"/>
              <a:ext cx="4381500" cy="20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 Desafio:</a:t>
              </a:r>
              <a:endParaRPr b="1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E9EDEE"/>
                  </a:solidFill>
                  <a:latin typeface="Roboto"/>
                  <a:ea typeface="Roboto"/>
                  <a:cs typeface="Roboto"/>
                  <a:sym typeface="Roboto"/>
                </a:rPr>
                <a:t>Como garantir que todos estejam trabalhando exatamente com a mesma configuração?</a:t>
              </a:r>
              <a:endParaRPr b="0" sz="1600">
                <a:solidFill>
                  <a:srgbClr val="E9EDE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8" name="Google Shape;78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 - Gerenciar Configuração</a:t>
            </a:r>
            <a:endParaRPr/>
          </a:p>
        </p:txBody>
      </p:sp>
      <p:grpSp>
        <p:nvGrpSpPr>
          <p:cNvPr id="79" name="Google Shape;79;p10"/>
          <p:cNvGrpSpPr/>
          <p:nvPr/>
        </p:nvGrpSpPr>
        <p:grpSpPr>
          <a:xfrm>
            <a:off x="5524500" y="2200425"/>
            <a:ext cx="6096000" cy="4143300"/>
            <a:chOff x="5524500" y="1714500"/>
            <a:chExt cx="6096000" cy="4143300"/>
          </a:xfrm>
        </p:grpSpPr>
        <p:sp>
          <p:nvSpPr>
            <p:cNvPr id="80" name="Google Shape;80;p10"/>
            <p:cNvSpPr/>
            <p:nvPr/>
          </p:nvSpPr>
          <p:spPr>
            <a:xfrm>
              <a:off x="5524500" y="171450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5524500" y="171450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0"/>
            <p:cNvSpPr txBox="1"/>
            <p:nvPr/>
          </p:nvSpPr>
          <p:spPr>
            <a:xfrm>
              <a:off x="5762625" y="171450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Versões diferentes do código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83" name="Google Shape;83;p10"/>
            <p:cNvSpPr/>
            <p:nvPr/>
          </p:nvSpPr>
          <p:spPr>
            <a:xfrm>
              <a:off x="5524500" y="257175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0"/>
            <p:cNvSpPr/>
            <p:nvPr/>
          </p:nvSpPr>
          <p:spPr>
            <a:xfrm>
              <a:off x="5524500" y="257175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  <a:highlight>
                  <a:srgbClr val="434343"/>
                </a:highlight>
              </a:endParaRPr>
            </a:p>
          </p:txBody>
        </p:sp>
        <p:sp>
          <p:nvSpPr>
            <p:cNvPr id="85" name="Google Shape;85;p10"/>
            <p:cNvSpPr txBox="1"/>
            <p:nvPr/>
          </p:nvSpPr>
          <p:spPr>
            <a:xfrm>
              <a:off x="5762625" y="257175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Configurações diferentes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5524500" y="342900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5524500" y="342900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5762625" y="342900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Bibliotecas em versões diferentes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5524500" y="428625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5524500" y="428625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0"/>
            <p:cNvSpPr txBox="1"/>
            <p:nvPr/>
          </p:nvSpPr>
          <p:spPr>
            <a:xfrm>
              <a:off x="5762625" y="428625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Variáveis de ambiente diferentes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5524500" y="5143500"/>
              <a:ext cx="6096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0"/>
            <p:cNvSpPr/>
            <p:nvPr/>
          </p:nvSpPr>
          <p:spPr>
            <a:xfrm>
              <a:off x="5524500" y="5143500"/>
              <a:ext cx="76200" cy="714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0"/>
            <p:cNvSpPr txBox="1"/>
            <p:nvPr/>
          </p:nvSpPr>
          <p:spPr>
            <a:xfrm>
              <a:off x="5762625" y="5143500"/>
              <a:ext cx="5667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1A1A1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Bancos de dados diferentes</a:t>
              </a:r>
              <a:endParaRPr b="0" sz="1600">
                <a:solidFill>
                  <a:srgbClr val="1A1A1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"Na minha máquina funciona!"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Desenvolvimento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pt-BR" sz="2600"/>
              <a:t>Código + Node 20 → FUNCIONA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Produção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pt-BR" sz="2600"/>
              <a:t>Código + Node 18 → ERRO</a:t>
            </a:r>
            <a:endParaRPr sz="2600"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 - Gerenciar Configuração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idx="1" type="body"/>
          </p:nvPr>
        </p:nvSpPr>
        <p:spPr>
          <a:xfrm>
            <a:off x="459000" y="1982600"/>
            <a:ext cx="5637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Configuração é o conjunto de informações que determina como um sistema deve funcionar.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versão da aplicação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versão das bibliotecas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banco de dados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portas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URLs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variáveis de ambiente</a:t>
            </a:r>
            <a:endParaRPr sz="2600"/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parâmetros de execução</a:t>
            </a:r>
            <a:endParaRPr sz="2600"/>
          </a:p>
          <a:p>
            <a:pPr indent="0" lvl="0" marL="0" rtl="0" algn="just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08" name="Google Shape;108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configuração?</a:t>
            </a:r>
            <a:endParaRPr/>
          </a:p>
        </p:txBody>
      </p:sp>
      <p:pic>
        <p:nvPicPr>
          <p:cNvPr descr="preencoded.png" id="109" name="Google Shape;1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675" y="2092375"/>
            <a:ext cx="456250" cy="4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/>
          <p:nvPr/>
        </p:nvSpPr>
        <p:spPr>
          <a:xfrm>
            <a:off x="7788062" y="2092375"/>
            <a:ext cx="353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2519"/>
              <a:buFont typeface="Baskervville"/>
              <a:buNone/>
            </a:pPr>
            <a:r>
              <a:rPr b="0" i="0" lang="pt-BR" sz="2519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Código</a:t>
            </a:r>
            <a:endParaRPr b="0" i="0" sz="25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7788062" y="2611662"/>
            <a:ext cx="3538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417"/>
              <a:buFont typeface="Poppins"/>
              <a:buNone/>
            </a:pPr>
            <a:r>
              <a:rPr b="0" i="0" lang="pt-BR" sz="1417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Versão da aplicação e scripts</a:t>
            </a:r>
            <a:endParaRPr b="0" i="0" sz="14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3675" y="3268624"/>
            <a:ext cx="456250" cy="4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2"/>
          <p:cNvSpPr/>
          <p:nvPr/>
        </p:nvSpPr>
        <p:spPr>
          <a:xfrm>
            <a:off x="7788062" y="3268622"/>
            <a:ext cx="353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2519"/>
              <a:buFont typeface="Baskervville"/>
              <a:buNone/>
            </a:pPr>
            <a:r>
              <a:rPr b="0" i="0" lang="pt-BR" sz="2519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Dependências</a:t>
            </a:r>
            <a:endParaRPr b="0" i="0" sz="25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7788062" y="3787909"/>
            <a:ext cx="3538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417"/>
              <a:buFont typeface="Poppins"/>
              <a:buNone/>
            </a:pPr>
            <a:r>
              <a:rPr b="0" i="0" lang="pt-BR" sz="1417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Bibliotecas e suas versões</a:t>
            </a:r>
            <a:endParaRPr b="0" i="0" sz="14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3675" y="4444872"/>
            <a:ext cx="456250" cy="4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/>
          <p:nvPr/>
        </p:nvSpPr>
        <p:spPr>
          <a:xfrm>
            <a:off x="7788062" y="4444869"/>
            <a:ext cx="353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2519"/>
              <a:buFont typeface="Baskervville"/>
              <a:buNone/>
            </a:pPr>
            <a:r>
              <a:rPr b="0" i="0" lang="pt-BR" sz="2519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Banco de Dados</a:t>
            </a:r>
            <a:endParaRPr b="0" i="0" sz="25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7788062" y="4964156"/>
            <a:ext cx="3538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417"/>
              <a:buFont typeface="Poppins"/>
              <a:buNone/>
            </a:pPr>
            <a:r>
              <a:rPr b="0" i="0" lang="pt-BR" sz="1417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Portas, URLs, schemas</a:t>
            </a:r>
            <a:endParaRPr b="0" i="0" sz="14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3675" y="5621121"/>
            <a:ext cx="456250" cy="4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/>
          <p:nvPr/>
        </p:nvSpPr>
        <p:spPr>
          <a:xfrm>
            <a:off x="7788062" y="5621116"/>
            <a:ext cx="353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2519"/>
              <a:buFont typeface="Baskervville"/>
              <a:buNone/>
            </a:pPr>
            <a:r>
              <a:rPr b="0" i="0" lang="pt-BR" sz="2519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Ambiente</a:t>
            </a:r>
            <a:endParaRPr b="0" i="0" sz="25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7788062" y="6140403"/>
            <a:ext cx="3538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417"/>
              <a:buFont typeface="Poppins"/>
              <a:buNone/>
            </a:pPr>
            <a:r>
              <a:rPr b="0" i="0" lang="pt-BR" sz="1417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Variáveis e parâmetros</a:t>
            </a:r>
            <a:endParaRPr b="0" i="0" sz="14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Itens de configuração</a:t>
            </a:r>
            <a:endParaRPr/>
          </a:p>
        </p:txBody>
      </p:sp>
      <p:grpSp>
        <p:nvGrpSpPr>
          <p:cNvPr id="127" name="Google Shape;127;p13"/>
          <p:cNvGrpSpPr/>
          <p:nvPr/>
        </p:nvGrpSpPr>
        <p:grpSpPr>
          <a:xfrm>
            <a:off x="457200" y="2000250"/>
            <a:ext cx="3505200" cy="1714500"/>
            <a:chOff x="457200" y="2000250"/>
            <a:chExt cx="3505200" cy="1714500"/>
          </a:xfrm>
        </p:grpSpPr>
        <p:sp>
          <p:nvSpPr>
            <p:cNvPr id="128" name="Google Shape;128;p13"/>
            <p:cNvSpPr/>
            <p:nvPr/>
          </p:nvSpPr>
          <p:spPr>
            <a:xfrm>
              <a:off x="457200" y="200025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57200" y="200025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0" name="Google Shape;130;p13"/>
            <p:cNvSpPr txBox="1"/>
            <p:nvPr/>
          </p:nvSpPr>
          <p:spPr>
            <a:xfrm>
              <a:off x="704850" y="219075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Código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.js • .java • .py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4305300" y="2000250"/>
            <a:ext cx="3505200" cy="1714500"/>
            <a:chOff x="4305300" y="2000250"/>
            <a:chExt cx="3505200" cy="1714500"/>
          </a:xfrm>
        </p:grpSpPr>
        <p:sp>
          <p:nvSpPr>
            <p:cNvPr id="132" name="Google Shape;132;p13"/>
            <p:cNvSpPr/>
            <p:nvPr/>
          </p:nvSpPr>
          <p:spPr>
            <a:xfrm>
              <a:off x="4305300" y="200025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4305300" y="200025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4552950" y="219075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Dependências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package.json • pom.xml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35" name="Google Shape;135;p13"/>
          <p:cNvGrpSpPr/>
          <p:nvPr/>
        </p:nvGrpSpPr>
        <p:grpSpPr>
          <a:xfrm>
            <a:off x="8153400" y="2000250"/>
            <a:ext cx="3505200" cy="1714500"/>
            <a:chOff x="8153400" y="2000250"/>
            <a:chExt cx="3505200" cy="1714500"/>
          </a:xfrm>
        </p:grpSpPr>
        <p:sp>
          <p:nvSpPr>
            <p:cNvPr id="136" name="Google Shape;136;p13"/>
            <p:cNvSpPr/>
            <p:nvPr/>
          </p:nvSpPr>
          <p:spPr>
            <a:xfrm>
              <a:off x="8153400" y="200025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8153400" y="200025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38" name="Google Shape;138;p13"/>
            <p:cNvSpPr txBox="1"/>
            <p:nvPr/>
          </p:nvSpPr>
          <p:spPr>
            <a:xfrm>
              <a:off x="8401050" y="219075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tune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Configurações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.env • YAML • JSON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39" name="Google Shape;139;p13"/>
          <p:cNvGrpSpPr/>
          <p:nvPr/>
        </p:nvGrpSpPr>
        <p:grpSpPr>
          <a:xfrm>
            <a:off x="457200" y="4000500"/>
            <a:ext cx="3505200" cy="1714500"/>
            <a:chOff x="457200" y="4000500"/>
            <a:chExt cx="3505200" cy="1714500"/>
          </a:xfrm>
        </p:grpSpPr>
        <p:sp>
          <p:nvSpPr>
            <p:cNvPr id="140" name="Google Shape;140;p13"/>
            <p:cNvSpPr/>
            <p:nvPr/>
          </p:nvSpPr>
          <p:spPr>
            <a:xfrm>
              <a:off x="457200" y="400050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57200" y="400050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2" name="Google Shape;142;p13"/>
            <p:cNvSpPr txBox="1"/>
            <p:nvPr/>
          </p:nvSpPr>
          <p:spPr>
            <a:xfrm>
              <a:off x="704850" y="419100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Banco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scripts SQL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43" name="Google Shape;143;p13"/>
          <p:cNvGrpSpPr/>
          <p:nvPr/>
        </p:nvGrpSpPr>
        <p:grpSpPr>
          <a:xfrm>
            <a:off x="4305300" y="4000500"/>
            <a:ext cx="3505200" cy="1714500"/>
            <a:chOff x="4305300" y="4000500"/>
            <a:chExt cx="3505200" cy="1714500"/>
          </a:xfrm>
        </p:grpSpPr>
        <p:sp>
          <p:nvSpPr>
            <p:cNvPr id="144" name="Google Shape;144;p13"/>
            <p:cNvSpPr/>
            <p:nvPr/>
          </p:nvSpPr>
          <p:spPr>
            <a:xfrm>
              <a:off x="4305300" y="400050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4305300" y="400050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6" name="Google Shape;146;p13"/>
            <p:cNvSpPr txBox="1"/>
            <p:nvPr/>
          </p:nvSpPr>
          <p:spPr>
            <a:xfrm>
              <a:off x="4552950" y="419100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9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r>
                <a:rPr b="1" lang="pt-BR" sz="2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Infraestrutura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9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Docker • Terraform</a:t>
              </a:r>
              <a:endParaRPr b="0" sz="19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47" name="Google Shape;147;p13"/>
          <p:cNvGrpSpPr/>
          <p:nvPr/>
        </p:nvGrpSpPr>
        <p:grpSpPr>
          <a:xfrm>
            <a:off x="8153400" y="4000500"/>
            <a:ext cx="3505200" cy="1714500"/>
            <a:chOff x="8153400" y="4000500"/>
            <a:chExt cx="3505200" cy="1714500"/>
          </a:xfrm>
        </p:grpSpPr>
        <p:sp>
          <p:nvSpPr>
            <p:cNvPr id="148" name="Google Shape;148;p13"/>
            <p:cNvSpPr/>
            <p:nvPr/>
          </p:nvSpPr>
          <p:spPr>
            <a:xfrm>
              <a:off x="8153400" y="4000500"/>
              <a:ext cx="35052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8153400" y="400050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72F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50" name="Google Shape;150;p13"/>
            <p:cNvSpPr txBox="1"/>
            <p:nvPr/>
          </p:nvSpPr>
          <p:spPr>
            <a:xfrm>
              <a:off x="8401050" y="4191000"/>
              <a:ext cx="3067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700">
                  <a:solidFill>
                    <a:srgbClr val="272F6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r>
                <a:rPr b="1" lang="pt-BR" sz="19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Doc. e Scripts</a:t>
              </a:r>
              <a:endParaRPr sz="1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8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README • build</a:t>
              </a:r>
              <a:br>
                <a:rPr b="0" lang="pt-BR" sz="18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</a:br>
              <a:r>
                <a:rPr b="0" lang="pt-BR" sz="18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test • deploy</a:t>
              </a:r>
              <a:endParaRPr b="0" sz="18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Instalando o Node.js</a:t>
            </a:r>
            <a:endParaRPr b="1" sz="4600"/>
          </a:p>
        </p:txBody>
      </p:sp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Node.js é um ambiente de execução JavaScript que permite a execução de código no backend, ou seja, no servidor. Em vez de gerar diretamente conteúdo HTML, ele atua como um serviço para atender às requisições de uma aplicação.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Com o Node.js, é possível utilizar a mesma linguagem, JavaScript, tanto no servidor quanto no navegador. Isso possibilita uma maior integração entre o frontend e o backend, tornando o desenvolvimento mais eficiente e unificado.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Instalando o Node.js</a:t>
            </a:r>
            <a:endParaRPr b="1" sz="4600"/>
          </a:p>
        </p:txBody>
      </p:sp>
      <p:sp>
        <p:nvSpPr>
          <p:cNvPr id="162" name="Google Shape;162;p15"/>
          <p:cNvSpPr txBox="1"/>
          <p:nvPr/>
        </p:nvSpPr>
        <p:spPr>
          <a:xfrm>
            <a:off x="3251125" y="61045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1" lang="pt-B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https://nodejs.org/en/download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3550" y="1986500"/>
            <a:ext cx="6004899" cy="41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Instalando o Node.js</a:t>
            </a:r>
            <a:endParaRPr b="1" sz="4600"/>
          </a:p>
        </p:txBody>
      </p:sp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Escolha a versão do seu sistema operacional</a:t>
            </a:r>
            <a:endParaRPr/>
          </a:p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Baixe e execute o instalador</a:t>
            </a:r>
            <a:endParaRPr/>
          </a:p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Siga as etapas "Next &gt; Next &gt; Install"</a:t>
            </a:r>
            <a:endParaRPr/>
          </a:p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Para testar a instalação:</a:t>
            </a:r>
            <a:endParaRPr/>
          </a:p>
          <a:p>
            <a:pPr indent="-393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Abra o Prompt de Comando</a:t>
            </a:r>
            <a:endParaRPr/>
          </a:p>
          <a:p>
            <a:pPr indent="-393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Digite node --version</a:t>
            </a:r>
            <a:endParaRPr/>
          </a:p>
          <a:p>
            <a:pPr indent="-393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Se aparecer a versão instalada, está correto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502188" y="591999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4613" y="2717400"/>
            <a:ext cx="4084975" cy="31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Node Package Manager (NPM)</a:t>
            </a:r>
            <a:endParaRPr b="1" sz="4600"/>
          </a:p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24000"/>
              <a:buChar char="●"/>
            </a:pPr>
            <a:r>
              <a:rPr lang="pt-BR"/>
              <a:t>O NPM (Node Package Manager) é o gerenciador de pacotes do Node.js, instalado automaticamente com ele. Ele facilita a instalação, atualização e remoção de bibliotecas e frameworks JavaScript, além de permitir a criação e compartilhamento de módulos públicos ou privados. Com o NPM, todas as dependências do projeto são gerenciadas de forma automatizada, evitando a necessidade de downloads manuais.</a:t>
            </a:r>
            <a:endParaRPr sz="1250"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Um dos principais recursos do NPM é o package.json, que registra todas as dependências do projeto. Isso simplifica a colaboração entre desenvolvedores, pois basta rodar npm install para baixar automaticamente todos os pacotes necessários. Dessa forma, o NPM melhora a organização, a eficiência e a escalabilidade dos projetos.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sp>
        <p:nvSpPr>
          <p:cNvPr id="183" name="Google Shape;183;p1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530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O comando </a:t>
            </a:r>
            <a:r>
              <a:rPr b="1" i="1" lang="pt-BR"/>
              <a:t>npx create-react-app &lt;nome&gt;</a:t>
            </a:r>
            <a:r>
              <a:rPr lang="pt-BR"/>
              <a:t> é usado para criar um novo projeto React com uma configuração inicial pronta para desenvolvimento.</a:t>
            </a:r>
            <a:endParaRPr/>
          </a:p>
          <a:p>
            <a:pPr indent="-3530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Criará uma nova aplicação React com toda a estrutura de arquivos e configurações necessárias, incluindo: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Sistema de build com Webpack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Babel para transpilar JavaScript moderno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Ambiente de desenvolvimento com servidor local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Scripts prontos para build e teste</a:t>
            </a:r>
            <a:endParaRPr/>
          </a:p>
          <a:p>
            <a:pPr indent="-35306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Estrutura básica de pastas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419175" y="3746500"/>
            <a:ext cx="3693000" cy="1885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npx é um executador de pacotes npm que vem com o Node.js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create-react-app é um pacote oficial do React que gera o projeto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5130600" y="625169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: Banks, A.; Porcello, E. (2017).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sp>
        <p:nvSpPr>
          <p:cNvPr id="191" name="Google Shape;191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1: Criar o projeto React</a:t>
            </a:r>
            <a:endParaRPr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npx create-react-app meu-projeto-react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2: Navegar para a pasta do projeto</a:t>
            </a:r>
            <a:endParaRPr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cd meu-projeto-react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3: Abrir o VS Code na pasta do projeto (se ainda não estiver aberto)</a:t>
            </a:r>
            <a:endParaRPr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code 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4: Inicie o servidor local para visualizar o projeto no navegador</a:t>
            </a:r>
            <a:endParaRPr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npm start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sp>
        <p:nvSpPr>
          <p:cNvPr id="197" name="Google Shape;197;p20"/>
          <p:cNvSpPr txBox="1"/>
          <p:nvPr/>
        </p:nvSpPr>
        <p:spPr>
          <a:xfrm>
            <a:off x="7480688" y="50149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-3397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Pasta node_modules</a:t>
            </a:r>
            <a:endParaRPr b="1"/>
          </a:p>
          <a:p>
            <a:pPr indent="-3397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Contém os pacotes instalados (bibliotecas JS) npm i (install) para instalar as dependências do projeto</a:t>
            </a:r>
            <a:endParaRPr/>
          </a:p>
          <a:p>
            <a:pPr indent="-3397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Pasta public</a:t>
            </a:r>
            <a:endParaRPr b="1"/>
          </a:p>
          <a:p>
            <a:pPr indent="-3397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Contém arquivo HTML, JSON, imagens</a:t>
            </a:r>
            <a:endParaRPr/>
          </a:p>
          <a:p>
            <a:pPr indent="-3397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Pasta src</a:t>
            </a:r>
            <a:endParaRPr b="1"/>
          </a:p>
          <a:p>
            <a:pPr indent="-3397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Contém arquivos JS React do seu projeto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O arquivo </a:t>
            </a:r>
            <a:r>
              <a:rPr b="1" lang="pt-BR"/>
              <a:t>.gitignore</a:t>
            </a:r>
            <a:r>
              <a:rPr lang="pt-BR"/>
              <a:t> contém a definição dos arquivos (como senhas) e diretórios que devem ser ignorados pelo Git. Já o </a:t>
            </a:r>
            <a:r>
              <a:rPr b="1" lang="pt-BR"/>
              <a:t>package.json</a:t>
            </a:r>
            <a:r>
              <a:rPr lang="pt-BR"/>
              <a:t> e o </a:t>
            </a:r>
            <a:r>
              <a:rPr b="1" lang="pt-BR"/>
              <a:t>package-lock.json</a:t>
            </a:r>
            <a:r>
              <a:rPr lang="pt-BR"/>
              <a:t> contém informações e comandos necessários para a configuração do projeto, incluindo os dados sobre as dependências dos pacotes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925" y="3070182"/>
            <a:ext cx="34480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075" y="1996171"/>
            <a:ext cx="6297401" cy="399455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1209875" y="59907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037038" y="47275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 Projeto React</a:t>
            </a:r>
            <a:endParaRPr b="1" sz="4600"/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4050" y="1843095"/>
            <a:ext cx="19431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7480688" y="501492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index.js</a:t>
            </a:r>
            <a:endParaRPr b="1"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Ponto de entrada do React (renderiza App no DOM).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App.js</a:t>
            </a:r>
            <a:endParaRPr b="1"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Componente raiz da aplicação (define a estrutura inicial).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App.css</a:t>
            </a:r>
            <a:endParaRPr b="1"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Estilos do componente App (pode usar CSS Modules/Styled Components).</a:t>
            </a:r>
            <a:endParaRPr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b="1" lang="pt-BR"/>
              <a:t>index.css</a:t>
            </a:r>
            <a:endParaRPr b="1"/>
          </a:p>
          <a:p>
            <a:pPr indent="-36639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Estilos globais (afeta toda a aplicação).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Encontrar projetos modelos, desenvolvidos com um framework desejado, pode acelerar muito o desenvolvimento da aplicação. Muitas vezes não é necessário começar do zero, pois, a comunidade open source oferece centenas de projetos gratuitos, personalizáveis e com boas práticas de código.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Ferramentas para pesquisar projetos: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GitHub - </a:t>
            </a:r>
            <a:r>
              <a:rPr lang="pt-BR" sz="2400" u="sng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Repository search</a:t>
            </a:r>
            <a:r>
              <a:rPr lang="pt-BR" sz="2400"/>
              <a:t> *Utilizar o comando git clone &lt;url&gt;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Vercel - </a:t>
            </a:r>
            <a:r>
              <a:rPr lang="pt-BR" sz="2400" u="sng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Busca por Templates</a:t>
            </a:r>
            <a:r>
              <a:rPr lang="pt-BR" sz="2400"/>
              <a:t> *Fazer o download apenas de uma parte do repositório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CodeSandbox - </a:t>
            </a:r>
            <a:r>
              <a:rPr lang="pt-BR" sz="2400" u="sng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Template Search</a:t>
            </a:r>
            <a:endParaRPr sz="2400"/>
          </a:p>
        </p:txBody>
      </p:sp>
      <p:sp>
        <p:nvSpPr>
          <p:cNvPr id="222" name="Google Shape;222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Buscando Projetos por Frameworks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800" y="1060907"/>
            <a:ext cx="10522406" cy="520326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3251100" y="6356273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https://codesandbox.io/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1. Pesquise um template de projeto desenvolvido em React, importe-o, faça as alterações e salve em um repositório no Github.</a:t>
            </a:r>
            <a:endParaRPr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/>
              <a:t>2</a:t>
            </a:r>
            <a:r>
              <a:rPr lang="pt-BR"/>
              <a:t>. Em seguida, documente todas as etapas da atividade em um único arquivo, incluindo descrições, prints das telas, e os links dos repositórios no GitHub e do projeto na Vercel.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2" name="Google Shape;242;p2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9" name="Google Shape;249;p2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Gerência de Configuração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256" name="Google Shape;256;p28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