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Corbel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42" Type="http://schemas.openxmlformats.org/officeDocument/2006/relationships/font" Target="fonts/Corbel-bold.fntdata"/><Relationship Id="rId41" Type="http://schemas.openxmlformats.org/officeDocument/2006/relationships/font" Target="fonts/Corbel-regular.fntdata"/><Relationship Id="rId22" Type="http://schemas.openxmlformats.org/officeDocument/2006/relationships/slide" Target="slides/slide17.xml"/><Relationship Id="rId44" Type="http://schemas.openxmlformats.org/officeDocument/2006/relationships/font" Target="fonts/Corbel-boldItalic.fntdata"/><Relationship Id="rId21" Type="http://schemas.openxmlformats.org/officeDocument/2006/relationships/slide" Target="slides/slide16.xml"/><Relationship Id="rId43" Type="http://schemas.openxmlformats.org/officeDocument/2006/relationships/font" Target="fonts/Corbel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eb764036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2d8eb76403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35701d7d6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35701d7d6_0_5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c35701d7d6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8eb764036_0_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2d8eb764036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fb9acde4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fb9acde48_0_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2fb9acde4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5701d7d6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5701d7d6_0_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35701d7d6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490f7313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490f73138_0_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3490f73138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fb9acde48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fb9acde48_0_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2fb9acde48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1a119ed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1a119ed_0_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661a119ed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1a119e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1a119ed_0_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661a119ed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1a119ed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1a119ed_0_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661a119ed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1a119ed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1a119ed_0_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661a119ed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61a119ed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661a119ed_0_4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661a119ed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35701d7d6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35701d7d6_0_8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35701d7d6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8cfa370a2_0_2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2d8cfa370a2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8eb764036_0_2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2d8eb76403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8eb764036_0_2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2d8eb76403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3c3fcc43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93c3fcc43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661a119e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661a119ed_0_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661a119ed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orms.gle/qwE6KKLBVx5z2jmr6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Apresentação da Disciplina e Introdução ao DevOps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Apresentação da Turma</a:t>
            </a:r>
            <a:endParaRPr b="1" sz="4600"/>
          </a:p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Experiências profissionais na área?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Expectativas após a conclusão do curso?</a:t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Um hobby ou passatempo.</a:t>
            </a:r>
            <a:endParaRPr/>
          </a:p>
          <a:p>
            <a:pPr indent="0" lvl="0" marL="274320" rtl="0" algn="l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Apresentação da Disciplina e Contextualização;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Apresentação - Plano de Aulas e Ensino;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Contexto da Disciplina;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Sequência dos Conteúdos do Semestre;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Metodologia de Ensino;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Critérios de Avaliação;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Atividade;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Conclusão.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Histórico Acadêmico e Profissional</a:t>
            </a:r>
            <a:endParaRPr b="1" sz="4600"/>
          </a:p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2909" lvl="0" marL="45720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Mestre em Ciência da Computação (2021);</a:t>
            </a:r>
            <a:endParaRPr sz="2903"/>
          </a:p>
          <a:p>
            <a:pPr indent="-41290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Especialização em Inteligência Artificial (Atual);</a:t>
            </a:r>
            <a:endParaRPr sz="2903"/>
          </a:p>
          <a:p>
            <a:pPr indent="-41290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Quatro Pós-graduação Lato sensu;</a:t>
            </a:r>
            <a:endParaRPr sz="2903"/>
          </a:p>
          <a:p>
            <a:pPr indent="-41290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Graduação em Análise e Desenvolvimento de Sistemas (2016).</a:t>
            </a:r>
            <a:endParaRPr sz="2903"/>
          </a:p>
          <a:p>
            <a:pPr indent="0" lvl="0" marL="0" rtl="0" algn="l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655"/>
          </a:p>
          <a:p>
            <a:pPr indent="-412909" lvl="0" marL="457200" rtl="0" algn="l">
              <a:lnSpc>
                <a:spcPct val="110000"/>
              </a:lnSpc>
              <a:spcBef>
                <a:spcPts val="210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Gerente de Projetos (2023 - Atual);</a:t>
            </a:r>
            <a:endParaRPr sz="2903"/>
          </a:p>
          <a:p>
            <a:pPr indent="-41290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Professor Universitário (2022 - Atual);</a:t>
            </a:r>
            <a:endParaRPr sz="2903"/>
          </a:p>
          <a:p>
            <a:pPr indent="-41290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Coordenador Acadêmico (2019 - 2021);</a:t>
            </a:r>
            <a:endParaRPr sz="2903"/>
          </a:p>
          <a:p>
            <a:pPr indent="-412909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903"/>
              <a:buChar char="●"/>
            </a:pPr>
            <a:r>
              <a:rPr lang="pt-BR" sz="2903"/>
              <a:t>Professor de Informática (2017 - 2023).</a:t>
            </a:r>
            <a:endParaRPr sz="2903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Atuação na </a:t>
            </a:r>
            <a:r>
              <a:rPr lang="pt-BR"/>
              <a:t>FATEC</a:t>
            </a:r>
            <a:endParaRPr b="1"/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Orientações - Programação Web;</a:t>
            </a:r>
            <a:endParaRPr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Projetos - Programação Web e Educação Financeira.</a:t>
            </a:r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 b="0" l="0" r="0" t="12127"/>
          <a:stretch/>
        </p:blipFill>
        <p:spPr>
          <a:xfrm>
            <a:off x="8112550" y="4249924"/>
            <a:ext cx="3061975" cy="172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425" y="4249925"/>
            <a:ext cx="3061975" cy="172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4989" y="4249924"/>
            <a:ext cx="3061974" cy="172236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/>
        </p:nvSpPr>
        <p:spPr>
          <a:xfrm>
            <a:off x="4515738" y="6453400"/>
            <a:ext cx="316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Fonte</a:t>
            </a:r>
            <a:r>
              <a:rPr lang="pt-BR" sz="13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: Elaboração própria.</a:t>
            </a:r>
            <a:endParaRPr sz="13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Apresentação - Plano de </a:t>
            </a:r>
            <a:r>
              <a:rPr b="1" lang="pt-BR" sz="4600"/>
              <a:t>Aulas e </a:t>
            </a:r>
            <a:r>
              <a:rPr b="1" lang="pt-BR" sz="4600"/>
              <a:t>Ensino</a:t>
            </a:r>
            <a:endParaRPr b="1" sz="4600"/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Objetivos de aprendizagem;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Ementa;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Conteúdo Programático;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Metodologia de ensino;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Recursos didáticos;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Avaliação;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Bibliografia.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Versionamento e Deploy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25" y="1672775"/>
            <a:ext cx="5862126" cy="4147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5926" y="1980570"/>
            <a:ext cx="5473699" cy="353187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7532513" y="5820225"/>
            <a:ext cx="316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Fonte</a:t>
            </a:r>
            <a:r>
              <a:rPr lang="pt-BR" sz="13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: Elaboração própria.</a:t>
            </a:r>
            <a:endParaRPr sz="13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Versionamento e Deploy</a:t>
            </a:r>
            <a:endParaRPr/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40"/>
              <a:buChar char="●"/>
            </a:pPr>
            <a:r>
              <a:rPr lang="pt-BR"/>
              <a:t>A disciplina de Programação Web combina princípios de design visual com tecnologias web para criar interfaces digitais funcionais e atraentes.</a:t>
            </a:r>
            <a:endParaRPr/>
          </a:p>
          <a:p>
            <a:pPr indent="-3454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40"/>
              <a:buChar char="●"/>
            </a:pPr>
            <a:r>
              <a:rPr lang="pt-BR"/>
              <a:t>Controle de Versões é a ideia de registrar as alterações em arquivos ao longo do tempo, permitindo:</a:t>
            </a:r>
            <a:endParaRPr/>
          </a:p>
          <a:p>
            <a:pPr indent="-4064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pt-BR" sz="2800"/>
              <a:t>Recuperar versões específicas;</a:t>
            </a:r>
            <a:endParaRPr sz="2800"/>
          </a:p>
          <a:p>
            <a:pPr indent="-4064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pt-BR" sz="2800"/>
              <a:t>Colaboração em equipe;</a:t>
            </a:r>
            <a:endParaRPr sz="2800"/>
          </a:p>
          <a:p>
            <a:pPr indent="-4064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pt-BR" sz="2800"/>
              <a:t>Ramificações (branches) para desenvolvimento paralelo;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Introdução ao Versionamento e Deploy</a:t>
            </a:r>
            <a:endParaRPr b="1"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Conceito, importância e benefícios no desenvolvimento web.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Deploy e métodos de implantação e ambientes de desenvolvimento;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Sistemas de Controle de Versão (GitHub, GitLab e Bitbucket);</a:t>
            </a:r>
            <a:endParaRPr/>
          </a:p>
          <a:p>
            <a:pPr indent="-3930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Automação e Boas Práticas – Integração Contínua (CI/CD), ferramentas para deploy automatizado e monitoramento de aplicações.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/>
              <a:t>Automação de Pipelines</a:t>
            </a:r>
            <a:endParaRPr b="1" sz="4600"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797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Um pipeline representa a sequência automatizada de etapas executadas desde o desenvolvimento até a disponibilização da aplicação.</a:t>
            </a:r>
            <a:endParaRPr/>
          </a:p>
          <a:p>
            <a:pPr indent="-3797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Automatiza processos repetitivos como compilação, testes, análise de código e deploy.</a:t>
            </a:r>
            <a:endParaRPr/>
          </a:p>
          <a:p>
            <a:pPr indent="-3797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Reduz erros humanos e aumenta a confiabilidade das entregas.</a:t>
            </a:r>
            <a:endParaRPr/>
          </a:p>
          <a:p>
            <a:pPr indent="-37973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Permite feedback rápido para a equipe de desenvolvimento.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Prática de integrar frequentemente as alterações realizadas pelos desenvolvedores.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Cada alteração dispara automaticamente processos de compilação e testes.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Identifica problemas logo no início do desenvolvimento.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Facilita o trabalho colaborativo e reduz conflitos entre versões.</a:t>
            </a:r>
            <a:endParaRPr sz="2700"/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Contínua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A qualidade deve ser validada durante todo o desenvolvimento.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Ferramentas automatizadas analisam:</a:t>
            </a:r>
            <a:endParaRPr sz="27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Padronização do código;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Segurança;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Complexidade;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Cobertura de testes;</a:t>
            </a:r>
            <a:endParaRPr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Vulnerabilidades.</a:t>
            </a:r>
            <a:endParaRPr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Quanto antes um problema é identificado, menor é seu custo de correção.</a:t>
            </a:r>
            <a:endParaRPr sz="2700"/>
          </a:p>
        </p:txBody>
      </p:sp>
      <p:sp>
        <p:nvSpPr>
          <p:cNvPr id="131" name="Google Shape;131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de Software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Garantem que novas alterações não </a:t>
            </a:r>
            <a:r>
              <a:rPr lang="pt-BR" sz="2700"/>
              <a:t>comprometem</a:t>
            </a:r>
            <a:r>
              <a:rPr lang="pt-BR" sz="2700"/>
              <a:t> funcionalidades existentes.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Principais categorias:</a:t>
            </a:r>
            <a:endParaRPr sz="27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Testes Unitários;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Testes de Integração;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Testes Funcionais;</a:t>
            </a:r>
            <a:endParaRPr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Testes End-to-End.</a:t>
            </a:r>
            <a:endParaRPr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São executados automaticamente durante o pipeline de CI/CD.</a:t>
            </a:r>
            <a:endParaRPr sz="2700"/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Automatizados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Após a aprovação dos testes, o sistema permanece pronto para publicação.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O deploy ocorre de maneira rápida, segura e padronizada.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Benefícios:</a:t>
            </a:r>
            <a:endParaRPr sz="27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 sz="2400"/>
              <a:t>Redução do tempo de entrega;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 sz="2400"/>
              <a:t>Maior estabilidade das aplicações;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 sz="2400"/>
              <a:t>Menor risco durante implantações.</a:t>
            </a:r>
            <a:endParaRPr sz="2400"/>
          </a:p>
        </p:txBody>
      </p:sp>
      <p:sp>
        <p:nvSpPr>
          <p:cNvPr id="145" name="Google Shape;145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 Contínua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Containers (como Docker) empacotam aplicação e dependências em um ambiente padronizado. Garantem que o software funcione da mesma forma em desenvolvimento, testes e produção.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Estratégias comuns de implantação:</a:t>
            </a:r>
            <a:endParaRPr sz="27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Rolling Update;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Blue-Green Deployment;</a:t>
            </a:r>
            <a:endParaRPr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Canary Release.</a:t>
            </a:r>
            <a:endParaRPr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Essas estratégias reduzem indisponibilidade e facilitam rollback.</a:t>
            </a:r>
            <a:endParaRPr sz="2700"/>
          </a:p>
        </p:txBody>
      </p:sp>
      <p:sp>
        <p:nvSpPr>
          <p:cNvPr id="152" name="Google Shape;152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Containers e Estratégias de Implantação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 Importante!! 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Ter um portfólio de projetos permite demonstrar habilidades práticas, criatividade e domínio de ferramentas essenciais para profissionais da área da Computação</a:t>
            </a:r>
            <a:endParaRPr sz="2800"/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Ele funciona como evidência concreta do aprendizado, facilitando a avaliação pelo professor e ampliando oportunidades em estágios e empregos na área.</a:t>
            </a:r>
            <a:endParaRPr sz="2800"/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Além disso, incentiva a organização, a melhoria contínua e o desenvolvimento de soluções reais, preparando o aluno para desafios do mercado profissional.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Critérios de Avaliação</a:t>
            </a:r>
            <a:endParaRPr b="1" sz="4600"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Fórmula  : (P1 * 0.25) + (P2 * 0.25) + ((PJ + AT) * 0.25) </a:t>
            </a:r>
            <a:endParaRPr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P1 - Prova 1 </a:t>
            </a:r>
            <a:endParaRPr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P2 - Prova 2 </a:t>
            </a:r>
            <a:endParaRPr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PJ - Projeto </a:t>
            </a:r>
            <a:endParaRPr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 - Atividades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Conclusão</a:t>
            </a:r>
            <a:endParaRPr b="1" sz="4600"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Apresentação </a:t>
            </a:r>
            <a:r>
              <a:rPr lang="pt-BR"/>
              <a:t>inicial</a:t>
            </a:r>
            <a:r>
              <a:rPr lang="pt-BR"/>
              <a:t> da disciplina;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Entendimento dos Planos de Aulas e Ensino;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Apresentação do Conteúdo Programático;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Critérios de Avaliação;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Primeira Atividade.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.</a:t>
            </a:r>
            <a:r>
              <a:rPr lang="pt-BR"/>
              <a:t>1. Formem grupos de 3 a 5 integrantes. </a:t>
            </a:r>
            <a:r>
              <a:rPr b="1" lang="pt-BR">
                <a:solidFill>
                  <a:srgbClr val="FF0000"/>
                </a:solidFill>
              </a:rPr>
              <a:t>Importante</a:t>
            </a:r>
            <a:r>
              <a:rPr lang="pt-BR"/>
              <a:t>: As atividades semanais deverão ser desenvolvidas e entregues em grupo, utilizando essa mesma composição. 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2. Após a definição dos integrantes, o grupo deverá reunir-se semanalmente para realizar as atividades propostas em aula.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3. Criem um repositório no GitHub, que servirá como diretório principal das atividades da disciplina durante todo o semestre. No repositório, deverá ser criado um arquivo Markdown (.md) contendo um resumo da Aula 01, abordando os principais conceitos discutidos.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4. Acessem e respondam a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avaliação diagnóstica</a:t>
            </a:r>
            <a:r>
              <a:rPr lang="pt-BR"/>
              <a:t> da primeira aula.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Apresentação da Disciplina e Introdução ao DevOps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204" name="Google Shape;204;p2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