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4" r:id="rId4"/>
    <p:sldMasterId id="2147483665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y="6858000" cx="12192000"/>
  <p:notesSz cx="6858000" cy="9144000"/>
  <p:embeddedFontLst>
    <p:embeddedFont>
      <p:font typeface="Raleway"/>
      <p:regular r:id="rId28"/>
      <p:bold r:id="rId29"/>
      <p:italic r:id="rId30"/>
      <p:boldItalic r:id="rId31"/>
    </p:embeddedFont>
    <p:embeddedFont>
      <p:font typeface="Roboto"/>
      <p:regular r:id="rId32"/>
      <p:bold r:id="rId33"/>
      <p:italic r:id="rId34"/>
      <p:boldItalic r:id="rId35"/>
    </p:embeddedFont>
    <p:embeddedFont>
      <p:font typeface="Lato"/>
      <p:regular r:id="rId36"/>
      <p:bold r:id="rId37"/>
      <p:italic r:id="rId38"/>
      <p:boldItalic r:id="rId39"/>
    </p:embeddedFont>
    <p:embeddedFont>
      <p:font typeface="Corbel"/>
      <p:regular r:id="rId40"/>
      <p:bold r:id="rId41"/>
      <p:italic r:id="rId42"/>
      <p:boldItalic r:id="rId4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pos="3840">
          <p15:clr>
            <a:srgbClr val="A4A3A4"/>
          </p15:clr>
        </p15:guide>
        <p15:guide id="2" pos="6816">
          <p15:clr>
            <a:srgbClr val="A4A3A4"/>
          </p15:clr>
        </p15:guide>
        <p15:guide id="3" pos="816">
          <p15:clr>
            <a:srgbClr val="A4A3A4"/>
          </p15:clr>
        </p15:guide>
        <p15:guide id="4" orient="horz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3840"/>
        <p:guide pos="6816"/>
        <p:guide pos="816"/>
        <p:guide pos="2160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Corbel-regular.fntdata"/><Relationship Id="rId20" Type="http://schemas.openxmlformats.org/officeDocument/2006/relationships/slide" Target="slides/slide14.xml"/><Relationship Id="rId42" Type="http://schemas.openxmlformats.org/officeDocument/2006/relationships/font" Target="fonts/Corbel-italic.fntdata"/><Relationship Id="rId41" Type="http://schemas.openxmlformats.org/officeDocument/2006/relationships/font" Target="fonts/Corbel-bold.fntdata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43" Type="http://schemas.openxmlformats.org/officeDocument/2006/relationships/font" Target="fonts/Corbel-boldItalic.fntdata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font" Target="fonts/Raleway-regular.fntdata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font" Target="fonts/Raleway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Raleway-boldItalic.fntdata"/><Relationship Id="rId30" Type="http://schemas.openxmlformats.org/officeDocument/2006/relationships/font" Target="fonts/Raleway-italic.fntdata"/><Relationship Id="rId11" Type="http://schemas.openxmlformats.org/officeDocument/2006/relationships/slide" Target="slides/slide5.xml"/><Relationship Id="rId33" Type="http://schemas.openxmlformats.org/officeDocument/2006/relationships/font" Target="fonts/Roboto-bold.fntdata"/><Relationship Id="rId10" Type="http://schemas.openxmlformats.org/officeDocument/2006/relationships/slide" Target="slides/slide4.xml"/><Relationship Id="rId32" Type="http://schemas.openxmlformats.org/officeDocument/2006/relationships/font" Target="fonts/Roboto-regular.fntdata"/><Relationship Id="rId13" Type="http://schemas.openxmlformats.org/officeDocument/2006/relationships/slide" Target="slides/slide7.xml"/><Relationship Id="rId35" Type="http://schemas.openxmlformats.org/officeDocument/2006/relationships/font" Target="fonts/Roboto-boldItalic.fntdata"/><Relationship Id="rId12" Type="http://schemas.openxmlformats.org/officeDocument/2006/relationships/slide" Target="slides/slide6.xml"/><Relationship Id="rId34" Type="http://schemas.openxmlformats.org/officeDocument/2006/relationships/font" Target="fonts/Roboto-italic.fntdata"/><Relationship Id="rId15" Type="http://schemas.openxmlformats.org/officeDocument/2006/relationships/slide" Target="slides/slide9.xml"/><Relationship Id="rId37" Type="http://schemas.openxmlformats.org/officeDocument/2006/relationships/font" Target="fonts/Lato-bold.fntdata"/><Relationship Id="rId14" Type="http://schemas.openxmlformats.org/officeDocument/2006/relationships/slide" Target="slides/slide8.xml"/><Relationship Id="rId36" Type="http://schemas.openxmlformats.org/officeDocument/2006/relationships/font" Target="fonts/Lato-regular.fntdata"/><Relationship Id="rId17" Type="http://schemas.openxmlformats.org/officeDocument/2006/relationships/slide" Target="slides/slide11.xml"/><Relationship Id="rId39" Type="http://schemas.openxmlformats.org/officeDocument/2006/relationships/font" Target="fonts/Lato-boldItalic.fntdata"/><Relationship Id="rId16" Type="http://schemas.openxmlformats.org/officeDocument/2006/relationships/slide" Target="slides/slide10.xml"/><Relationship Id="rId38" Type="http://schemas.openxmlformats.org/officeDocument/2006/relationships/font" Target="fonts/Lato-italic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pt-BR" sz="1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c35b607eaf_0_27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c35b607eaf_0_273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g3c35b607eaf_0_27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c35701d7d6_0_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c35701d7d6_0_2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g3c35701d7d6_0_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f6ea76ad9e_0_1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f6ea76ad9e_0_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f6ea76ad9e_0_1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f6ea76ad9e_0_1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f6ea76ad9e_0_1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f6ea76ad9e_0_1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f6ea76ad9e_0_1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f6ea76ad9e_0_1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f6ea76ad9e_0_1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f6ea76ad9e_0_1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f6ea76ad9e_0_1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f6ea76ad9e_0_1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f6ea76ad9e_0_1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f6ea76ad9e_0_1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f6ea76ad9e_0_1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f6ea76ad9e_0_1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f6ea76ad9e_0_1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3f6ea76ad9e_0_1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f849ea8306_0_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3f849ea8306_0_6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g3f849ea8306_0_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f849ea8306_0_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3f849ea8306_0_15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g3f849ea8306_0_1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f849ea8306_0_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3f849ea8306_0_21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g3f849ea8306_0_2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f850164cc3_0_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3f850164cc3_0_8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g3f850164cc3_0_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f850164cc3_0_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3f850164cc3_0_26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g3f850164cc3_0_2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f849ea8306_0_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g3f849ea8306_0_27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g3f849ea8306_0_2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f6ea76ad9e_0_9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3f6ea76ad9e_0_925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g3f6ea76ad9e_0_92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3c35701d7d6_0_8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g3c35701d7d6_0_89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g3c35701d7d6_0_8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f661a119ed_0_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3f661a119ed_0_4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g3f661a119ed_0_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3f6ea76ad9e_0_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5" name="Google Shape;245;g3f6ea76ad9e_0_1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g3f6ea76ad9e_0_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"/>
          <p:cNvSpPr/>
          <p:nvPr/>
        </p:nvSpPr>
        <p:spPr>
          <a:xfrm>
            <a:off x="0" y="0"/>
            <a:ext cx="12192000" cy="650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6" name="Google Shape;16;p2"/>
          <p:cNvGrpSpPr/>
          <p:nvPr/>
        </p:nvGrpSpPr>
        <p:grpSpPr>
          <a:xfrm>
            <a:off x="1107036" y="1588427"/>
            <a:ext cx="994316" cy="61102"/>
            <a:chOff x="4580561" y="2589004"/>
            <a:chExt cx="1064464" cy="25200"/>
          </a:xfrm>
        </p:grpSpPr>
        <p:sp>
          <p:nvSpPr>
            <p:cNvPr id="17" name="Google Shape;17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9" name="Google Shape;19;p2"/>
          <p:cNvSpPr txBox="1"/>
          <p:nvPr>
            <p:ph type="ctrTitle"/>
          </p:nvPr>
        </p:nvSpPr>
        <p:spPr>
          <a:xfrm>
            <a:off x="970600" y="2581950"/>
            <a:ext cx="10250700" cy="17283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B42526"/>
              </a:buClr>
              <a:buSzPts val="5300"/>
              <a:buFont typeface="Roboto"/>
              <a:buNone/>
              <a:defRPr sz="5300">
                <a:solidFill>
                  <a:srgbClr val="B4252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600"/>
              <a:buNone/>
              <a:defRPr sz="56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600"/>
              <a:buNone/>
              <a:defRPr sz="56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600"/>
              <a:buNone/>
              <a:defRPr sz="56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600"/>
              <a:buNone/>
              <a:defRPr sz="56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600"/>
              <a:buNone/>
              <a:defRPr sz="56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600"/>
              <a:buNone/>
              <a:defRPr sz="56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600"/>
              <a:buNone/>
              <a:defRPr sz="56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600"/>
              <a:buNone/>
              <a:defRPr sz="5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0" name="Google Shape;20;p2"/>
          <p:cNvSpPr txBox="1"/>
          <p:nvPr>
            <p:ph idx="1" type="subTitle"/>
          </p:nvPr>
        </p:nvSpPr>
        <p:spPr>
          <a:xfrm>
            <a:off x="599400" y="5165567"/>
            <a:ext cx="10993200" cy="11676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B00303"/>
              </a:buClr>
              <a:buSzPts val="2900"/>
              <a:buFont typeface="Roboto"/>
              <a:buNone/>
              <a:defRPr sz="2900">
                <a:solidFill>
                  <a:srgbClr val="B00303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1" name="Google Shape;21;p2"/>
          <p:cNvSpPr txBox="1"/>
          <p:nvPr>
            <p:ph idx="12" type="sldNum"/>
          </p:nvPr>
        </p:nvSpPr>
        <p:spPr>
          <a:xfrm>
            <a:off x="11381736" y="6333134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2" name="Google Shape;22;p2"/>
          <p:cNvSpPr/>
          <p:nvPr/>
        </p:nvSpPr>
        <p:spPr>
          <a:xfrm>
            <a:off x="1107200" y="1405133"/>
            <a:ext cx="994500" cy="321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rgbClr val="FFFFFF"/>
              </a:solidFill>
            </a:endParaRPr>
          </a:p>
        </p:txBody>
      </p:sp>
      <p:pic>
        <p:nvPicPr>
          <p:cNvPr id="23" name="Google Shape;23;p2"/>
          <p:cNvPicPr preferRelativeResize="0"/>
          <p:nvPr/>
        </p:nvPicPr>
        <p:blipFill rotWithShape="1">
          <a:blip r:embed="rId2">
            <a:alphaModFix/>
          </a:blip>
          <a:srcRect b="34470" l="15853" r="17114" t="31506"/>
          <a:stretch/>
        </p:blipFill>
        <p:spPr>
          <a:xfrm>
            <a:off x="101600" y="-1633"/>
            <a:ext cx="1766324" cy="6520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nteúdo" type="obj">
  <p:cSld name="OBJECT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3"/>
          <p:cNvSpPr txBox="1"/>
          <p:nvPr>
            <p:ph type="title"/>
          </p:nvPr>
        </p:nvSpPr>
        <p:spPr>
          <a:xfrm>
            <a:off x="551384" y="116632"/>
            <a:ext cx="11089200" cy="123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72F6D"/>
              </a:buClr>
              <a:buSzPts val="1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1" type="body"/>
          </p:nvPr>
        </p:nvSpPr>
        <p:spPr>
          <a:xfrm>
            <a:off x="551384" y="1556792"/>
            <a:ext cx="11089200" cy="48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900"/>
              </a:spcBef>
              <a:spcAft>
                <a:spcPts val="0"/>
              </a:spcAft>
              <a:buSzPts val="3200"/>
              <a:buChar char="●"/>
              <a:defRPr sz="3200"/>
            </a:lvl1pPr>
            <a:lvl2pPr indent="-431800" lvl="1" marL="9144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SzPts val="3200"/>
              <a:buChar char="○"/>
              <a:defRPr sz="3200"/>
            </a:lvl2pPr>
            <a:lvl3pPr indent="-431800" lvl="2" marL="13716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SzPts val="3200"/>
              <a:buChar char="■"/>
              <a:defRPr sz="3200"/>
            </a:lvl3pPr>
            <a:lvl4pPr indent="-431800" lvl="3" marL="18288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SzPts val="3200"/>
              <a:buChar char="●"/>
              <a:defRPr sz="3200"/>
            </a:lvl4pPr>
            <a:lvl5pPr indent="-431800" lvl="4" marL="22860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SzPts val="3200"/>
              <a:buChar char="○"/>
              <a:defRPr sz="3200"/>
            </a:lvl5pPr>
            <a:lvl6pPr indent="-431800" lvl="5" marL="27432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rgbClr val="272F6D"/>
              </a:buClr>
              <a:buSzPts val="3200"/>
              <a:buChar char="■"/>
              <a:defRPr sz="3200"/>
            </a:lvl6pPr>
            <a:lvl7pPr indent="-431800" lvl="6" marL="32004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rgbClr val="272F6D"/>
              </a:buClr>
              <a:buSzPts val="3200"/>
              <a:buChar char="●"/>
              <a:defRPr sz="3200"/>
            </a:lvl7pPr>
            <a:lvl8pPr indent="-431800" lvl="7" marL="36576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rgbClr val="272F6D"/>
              </a:buClr>
              <a:buSzPts val="3200"/>
              <a:buChar char="○"/>
              <a:defRPr sz="3200"/>
            </a:lvl8pPr>
            <a:lvl9pPr indent="-431800" lvl="8" marL="4114800" algn="l">
              <a:lnSpc>
                <a:spcPct val="90000"/>
              </a:lnSpc>
              <a:spcBef>
                <a:spcPts val="2100"/>
              </a:spcBef>
              <a:spcAft>
                <a:spcPts val="2100"/>
              </a:spcAft>
              <a:buClr>
                <a:srgbClr val="272F6D"/>
              </a:buClr>
              <a:buSzPts val="3200"/>
              <a:buChar char="■"/>
              <a:defRPr sz="3200"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/>
          <p:nvPr/>
        </p:nvSpPr>
        <p:spPr>
          <a:xfrm>
            <a:off x="0" y="0"/>
            <a:ext cx="12192000" cy="650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9" name="Google Shape;29;p4"/>
          <p:cNvGrpSpPr/>
          <p:nvPr/>
        </p:nvGrpSpPr>
        <p:grpSpPr>
          <a:xfrm>
            <a:off x="1107036" y="1588427"/>
            <a:ext cx="994316" cy="61102"/>
            <a:chOff x="4580561" y="2589004"/>
            <a:chExt cx="1064464" cy="25200"/>
          </a:xfrm>
        </p:grpSpPr>
        <p:sp>
          <p:nvSpPr>
            <p:cNvPr id="30" name="Google Shape;30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2" name="Google Shape;32;p4"/>
          <p:cNvSpPr txBox="1"/>
          <p:nvPr>
            <p:ph idx="1" type="body"/>
          </p:nvPr>
        </p:nvSpPr>
        <p:spPr>
          <a:xfrm>
            <a:off x="459000" y="1982600"/>
            <a:ext cx="11274000" cy="39204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431800" lvl="0" marL="4572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200"/>
              <a:buFont typeface="Calibri"/>
              <a:buChar char="●"/>
              <a:defRPr sz="3200"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>
              <a:lnSpc>
                <a:spcPct val="150000"/>
              </a:lnSpc>
              <a:spcBef>
                <a:spcPts val="2100"/>
              </a:spcBef>
              <a:spcAft>
                <a:spcPts val="0"/>
              </a:spcAft>
              <a:buSzPts val="2400"/>
              <a:buFont typeface="Roboto"/>
              <a:buChar char="○"/>
              <a:defRPr sz="2400">
                <a:latin typeface="Roboto"/>
                <a:ea typeface="Roboto"/>
                <a:cs typeface="Roboto"/>
                <a:sym typeface="Roboto"/>
              </a:defRPr>
            </a:lvl2pPr>
            <a:lvl3pPr indent="-323850" lvl="2" marL="1371600">
              <a:lnSpc>
                <a:spcPct val="150000"/>
              </a:lnSpc>
              <a:spcBef>
                <a:spcPts val="2100"/>
              </a:spcBef>
              <a:spcAft>
                <a:spcPts val="0"/>
              </a:spcAft>
              <a:buSzPts val="15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indent="-323850" lvl="3" marL="1828800">
              <a:lnSpc>
                <a:spcPct val="150000"/>
              </a:lnSpc>
              <a:spcBef>
                <a:spcPts val="2100"/>
              </a:spcBef>
              <a:spcAft>
                <a:spcPts val="0"/>
              </a:spcAft>
              <a:buSzPts val="15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indent="-323850" lvl="4" marL="2286000">
              <a:lnSpc>
                <a:spcPct val="150000"/>
              </a:lnSpc>
              <a:spcBef>
                <a:spcPts val="2100"/>
              </a:spcBef>
              <a:spcAft>
                <a:spcPts val="0"/>
              </a:spcAft>
              <a:buSzPts val="15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indent="-323850" lvl="5" marL="2743200">
              <a:lnSpc>
                <a:spcPct val="150000"/>
              </a:lnSpc>
              <a:spcBef>
                <a:spcPts val="2100"/>
              </a:spcBef>
              <a:spcAft>
                <a:spcPts val="0"/>
              </a:spcAft>
              <a:buSzPts val="15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23850" lvl="6" marL="3200400">
              <a:lnSpc>
                <a:spcPct val="150000"/>
              </a:lnSpc>
              <a:spcBef>
                <a:spcPts val="2100"/>
              </a:spcBef>
              <a:spcAft>
                <a:spcPts val="0"/>
              </a:spcAft>
              <a:buSzPts val="15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23850" lvl="7" marL="3657600">
              <a:lnSpc>
                <a:spcPct val="150000"/>
              </a:lnSpc>
              <a:spcBef>
                <a:spcPts val="2100"/>
              </a:spcBef>
              <a:spcAft>
                <a:spcPts val="0"/>
              </a:spcAft>
              <a:buSzPts val="15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23850" lvl="8" marL="4114800">
              <a:lnSpc>
                <a:spcPct val="150000"/>
              </a:lnSpc>
              <a:spcBef>
                <a:spcPts val="2100"/>
              </a:spcBef>
              <a:spcAft>
                <a:spcPts val="2100"/>
              </a:spcAft>
              <a:buSzPts val="15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33" name="Google Shape;33;p4"/>
          <p:cNvSpPr txBox="1"/>
          <p:nvPr>
            <p:ph idx="12" type="sldNum"/>
          </p:nvPr>
        </p:nvSpPr>
        <p:spPr>
          <a:xfrm>
            <a:off x="11381736" y="6333134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34" name="Google Shape;34;p4"/>
          <p:cNvSpPr/>
          <p:nvPr/>
        </p:nvSpPr>
        <p:spPr>
          <a:xfrm>
            <a:off x="1088233" y="1567800"/>
            <a:ext cx="1143600" cy="260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4"/>
          <p:cNvSpPr txBox="1"/>
          <p:nvPr>
            <p:ph type="title"/>
          </p:nvPr>
        </p:nvSpPr>
        <p:spPr>
          <a:xfrm>
            <a:off x="459000" y="976900"/>
            <a:ext cx="11274000" cy="713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Roboto"/>
              <a:buNone/>
              <a:defRPr sz="42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 sz="35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 sz="35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 sz="35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 sz="35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 sz="35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 sz="35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 sz="35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 sz="3500">
                <a:solidFill>
                  <a:schemeClr val="dk2"/>
                </a:solidFill>
              </a:defRPr>
            </a:lvl9pPr>
          </a:lstStyle>
          <a:p/>
        </p:txBody>
      </p:sp>
      <p:pic>
        <p:nvPicPr>
          <p:cNvPr id="36" name="Google Shape;36;p4"/>
          <p:cNvPicPr preferRelativeResize="0"/>
          <p:nvPr/>
        </p:nvPicPr>
        <p:blipFill rotWithShape="1">
          <a:blip r:embed="rId2">
            <a:alphaModFix/>
          </a:blip>
          <a:srcRect b="34470" l="15853" r="17114" t="31506"/>
          <a:stretch/>
        </p:blipFill>
        <p:spPr>
          <a:xfrm>
            <a:off x="101600" y="-1633"/>
            <a:ext cx="1766324" cy="6520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rpo (g3f661a119ed_7_0)">
  <p:cSld name="Título e corpo (g3f661a119ed_7_0)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5"/>
          <p:cNvSpPr txBox="1"/>
          <p:nvPr>
            <p:ph idx="1" type="body"/>
          </p:nvPr>
        </p:nvSpPr>
        <p:spPr>
          <a:xfrm>
            <a:off x="459000" y="1982600"/>
            <a:ext cx="11274000" cy="39204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431800" lvl="0" marL="4572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200"/>
              <a:buFont typeface="Calibri"/>
              <a:buChar char="●"/>
              <a:defRPr sz="3200"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>
              <a:lnSpc>
                <a:spcPct val="150000"/>
              </a:lnSpc>
              <a:spcBef>
                <a:spcPts val="2100"/>
              </a:spcBef>
              <a:spcAft>
                <a:spcPts val="0"/>
              </a:spcAft>
              <a:buSzPts val="2400"/>
              <a:buFont typeface="Roboto"/>
              <a:buChar char="○"/>
              <a:defRPr sz="2400">
                <a:latin typeface="Roboto"/>
                <a:ea typeface="Roboto"/>
                <a:cs typeface="Roboto"/>
                <a:sym typeface="Roboto"/>
              </a:defRPr>
            </a:lvl2pPr>
            <a:lvl3pPr indent="-323850" lvl="2" marL="1371600">
              <a:lnSpc>
                <a:spcPct val="150000"/>
              </a:lnSpc>
              <a:spcBef>
                <a:spcPts val="2100"/>
              </a:spcBef>
              <a:spcAft>
                <a:spcPts val="0"/>
              </a:spcAft>
              <a:buSzPts val="15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indent="-323850" lvl="3" marL="1828800">
              <a:lnSpc>
                <a:spcPct val="150000"/>
              </a:lnSpc>
              <a:spcBef>
                <a:spcPts val="2100"/>
              </a:spcBef>
              <a:spcAft>
                <a:spcPts val="0"/>
              </a:spcAft>
              <a:buSzPts val="15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indent="-323850" lvl="4" marL="2286000">
              <a:lnSpc>
                <a:spcPct val="150000"/>
              </a:lnSpc>
              <a:spcBef>
                <a:spcPts val="2100"/>
              </a:spcBef>
              <a:spcAft>
                <a:spcPts val="0"/>
              </a:spcAft>
              <a:buSzPts val="15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indent="-323850" lvl="5" marL="2743200">
              <a:lnSpc>
                <a:spcPct val="150000"/>
              </a:lnSpc>
              <a:spcBef>
                <a:spcPts val="2100"/>
              </a:spcBef>
              <a:spcAft>
                <a:spcPts val="0"/>
              </a:spcAft>
              <a:buSzPts val="15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23850" lvl="6" marL="3200400">
              <a:lnSpc>
                <a:spcPct val="150000"/>
              </a:lnSpc>
              <a:spcBef>
                <a:spcPts val="2100"/>
              </a:spcBef>
              <a:spcAft>
                <a:spcPts val="0"/>
              </a:spcAft>
              <a:buSzPts val="15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23850" lvl="7" marL="3657600">
              <a:lnSpc>
                <a:spcPct val="150000"/>
              </a:lnSpc>
              <a:spcBef>
                <a:spcPts val="2100"/>
              </a:spcBef>
              <a:spcAft>
                <a:spcPts val="0"/>
              </a:spcAft>
              <a:buSzPts val="15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23850" lvl="8" marL="4114800">
              <a:lnSpc>
                <a:spcPct val="150000"/>
              </a:lnSpc>
              <a:spcBef>
                <a:spcPts val="2100"/>
              </a:spcBef>
              <a:spcAft>
                <a:spcPts val="2100"/>
              </a:spcAft>
              <a:buSzPts val="15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11381736" y="6333134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40" name="Google Shape;40;p5"/>
          <p:cNvSpPr txBox="1"/>
          <p:nvPr>
            <p:ph type="title"/>
          </p:nvPr>
        </p:nvSpPr>
        <p:spPr>
          <a:xfrm>
            <a:off x="459000" y="976900"/>
            <a:ext cx="11274000" cy="713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Roboto"/>
              <a:buNone/>
              <a:defRPr sz="42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 sz="35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 sz="35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 sz="35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 sz="35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 sz="35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 sz="35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 sz="35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 sz="35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rpo (g3f661a119ed_14_0)">
  <p:cSld name="Título e corpo (g3f661a119ed_14_0)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6"/>
          <p:cNvSpPr txBox="1"/>
          <p:nvPr>
            <p:ph idx="1" type="body"/>
          </p:nvPr>
        </p:nvSpPr>
        <p:spPr>
          <a:xfrm>
            <a:off x="459000" y="1982600"/>
            <a:ext cx="11274000" cy="39204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431800" lvl="0" marL="4572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200"/>
              <a:buFont typeface="Calibri"/>
              <a:buChar char="●"/>
              <a:defRPr sz="3200"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>
              <a:lnSpc>
                <a:spcPct val="150000"/>
              </a:lnSpc>
              <a:spcBef>
                <a:spcPts val="2100"/>
              </a:spcBef>
              <a:spcAft>
                <a:spcPts val="0"/>
              </a:spcAft>
              <a:buSzPts val="2400"/>
              <a:buFont typeface="Roboto"/>
              <a:buChar char="○"/>
              <a:defRPr sz="2400">
                <a:latin typeface="Roboto"/>
                <a:ea typeface="Roboto"/>
                <a:cs typeface="Roboto"/>
                <a:sym typeface="Roboto"/>
              </a:defRPr>
            </a:lvl2pPr>
            <a:lvl3pPr indent="-323850" lvl="2" marL="1371600">
              <a:lnSpc>
                <a:spcPct val="150000"/>
              </a:lnSpc>
              <a:spcBef>
                <a:spcPts val="2100"/>
              </a:spcBef>
              <a:spcAft>
                <a:spcPts val="0"/>
              </a:spcAft>
              <a:buSzPts val="15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indent="-323850" lvl="3" marL="1828800">
              <a:lnSpc>
                <a:spcPct val="150000"/>
              </a:lnSpc>
              <a:spcBef>
                <a:spcPts val="2100"/>
              </a:spcBef>
              <a:spcAft>
                <a:spcPts val="0"/>
              </a:spcAft>
              <a:buSzPts val="15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indent="-323850" lvl="4" marL="2286000">
              <a:lnSpc>
                <a:spcPct val="150000"/>
              </a:lnSpc>
              <a:spcBef>
                <a:spcPts val="2100"/>
              </a:spcBef>
              <a:spcAft>
                <a:spcPts val="0"/>
              </a:spcAft>
              <a:buSzPts val="15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indent="-323850" lvl="5" marL="2743200">
              <a:lnSpc>
                <a:spcPct val="150000"/>
              </a:lnSpc>
              <a:spcBef>
                <a:spcPts val="2100"/>
              </a:spcBef>
              <a:spcAft>
                <a:spcPts val="0"/>
              </a:spcAft>
              <a:buSzPts val="15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23850" lvl="6" marL="3200400">
              <a:lnSpc>
                <a:spcPct val="150000"/>
              </a:lnSpc>
              <a:spcBef>
                <a:spcPts val="2100"/>
              </a:spcBef>
              <a:spcAft>
                <a:spcPts val="0"/>
              </a:spcAft>
              <a:buSzPts val="15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23850" lvl="7" marL="3657600">
              <a:lnSpc>
                <a:spcPct val="150000"/>
              </a:lnSpc>
              <a:spcBef>
                <a:spcPts val="2100"/>
              </a:spcBef>
              <a:spcAft>
                <a:spcPts val="0"/>
              </a:spcAft>
              <a:buSzPts val="15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23850" lvl="8" marL="4114800">
              <a:lnSpc>
                <a:spcPct val="150000"/>
              </a:lnSpc>
              <a:spcBef>
                <a:spcPts val="2100"/>
              </a:spcBef>
              <a:spcAft>
                <a:spcPts val="2100"/>
              </a:spcAft>
              <a:buSzPts val="15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43" name="Google Shape;43;p6"/>
          <p:cNvSpPr txBox="1"/>
          <p:nvPr>
            <p:ph idx="12" type="sldNum"/>
          </p:nvPr>
        </p:nvSpPr>
        <p:spPr>
          <a:xfrm>
            <a:off x="11381736" y="6333134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44" name="Google Shape;44;p6"/>
          <p:cNvSpPr txBox="1"/>
          <p:nvPr>
            <p:ph type="title"/>
          </p:nvPr>
        </p:nvSpPr>
        <p:spPr>
          <a:xfrm>
            <a:off x="459000" y="976900"/>
            <a:ext cx="11274000" cy="713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Roboto"/>
              <a:buNone/>
              <a:defRPr sz="42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 sz="35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 sz="35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 sz="35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 sz="35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 sz="35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 sz="35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 sz="35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 sz="35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ctrTitle"/>
          </p:nvPr>
        </p:nvSpPr>
        <p:spPr>
          <a:xfrm>
            <a:off x="415611" y="992767"/>
            <a:ext cx="11360700" cy="27369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1pPr>
            <a:lvl2pPr lvl="1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2pPr>
            <a:lvl3pPr lvl="2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3pPr>
            <a:lvl4pPr lvl="3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4pPr>
            <a:lvl5pPr lvl="4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5pPr>
            <a:lvl6pPr lvl="5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6pPr>
            <a:lvl7pPr lvl="6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7pPr>
            <a:lvl8pPr lvl="7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8pPr>
            <a:lvl9pPr lvl="8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9pPr>
          </a:lstStyle>
          <a:p/>
        </p:txBody>
      </p:sp>
      <p:sp>
        <p:nvSpPr>
          <p:cNvPr id="51" name="Google Shape;51;p8"/>
          <p:cNvSpPr txBox="1"/>
          <p:nvPr>
            <p:ph idx="1" type="subTitle"/>
          </p:nvPr>
        </p:nvSpPr>
        <p:spPr>
          <a:xfrm>
            <a:off x="415600" y="3778833"/>
            <a:ext cx="11360700" cy="10569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9pPr>
          </a:lstStyle>
          <a:p/>
        </p:txBody>
      </p:sp>
      <p:sp>
        <p:nvSpPr>
          <p:cNvPr id="52" name="Google Shape;52;p8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9"/>
          <p:cNvSpPr txBox="1"/>
          <p:nvPr>
            <p:ph type="title"/>
          </p:nvPr>
        </p:nvSpPr>
        <p:spPr>
          <a:xfrm>
            <a:off x="415600" y="2867800"/>
            <a:ext cx="11360700" cy="11223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55" name="Google Shape;55;p9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0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58" name="Google Shape;58;p10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59" name="Google Shape;59;p10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1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62" name="Google Shape;62;p11"/>
          <p:cNvSpPr txBox="1"/>
          <p:nvPr>
            <p:ph idx="1" type="body"/>
          </p:nvPr>
        </p:nvSpPr>
        <p:spPr>
          <a:xfrm>
            <a:off x="415600" y="1536633"/>
            <a:ext cx="5333100" cy="4555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49250" lvl="0" marL="45720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63" name="Google Shape;63;p11"/>
          <p:cNvSpPr txBox="1"/>
          <p:nvPr>
            <p:ph idx="2" type="body"/>
          </p:nvPr>
        </p:nvSpPr>
        <p:spPr>
          <a:xfrm>
            <a:off x="6443200" y="1536633"/>
            <a:ext cx="5333100" cy="4555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49250" lvl="0" marL="45720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64" name="Google Shape;64;p11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2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3"/>
          <p:cNvSpPr txBox="1"/>
          <p:nvPr>
            <p:ph type="title"/>
          </p:nvPr>
        </p:nvSpPr>
        <p:spPr>
          <a:xfrm>
            <a:off x="415600" y="740800"/>
            <a:ext cx="3744000" cy="10077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70" name="Google Shape;70;p13"/>
          <p:cNvSpPr txBox="1"/>
          <p:nvPr>
            <p:ph idx="1" type="body"/>
          </p:nvPr>
        </p:nvSpPr>
        <p:spPr>
          <a:xfrm>
            <a:off x="415600" y="1852800"/>
            <a:ext cx="3744000" cy="42393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71" name="Google Shape;71;p13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4"/>
          <p:cNvSpPr txBox="1"/>
          <p:nvPr>
            <p:ph type="title"/>
          </p:nvPr>
        </p:nvSpPr>
        <p:spPr>
          <a:xfrm>
            <a:off x="653667" y="600200"/>
            <a:ext cx="8490300" cy="54543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1pPr>
            <a:lvl2pPr lvl="1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2pPr>
            <a:lvl3pPr lvl="2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3pPr>
            <a:lvl4pPr lvl="3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4pPr>
            <a:lvl5pPr lvl="4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5pPr>
            <a:lvl6pPr lvl="5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6pPr>
            <a:lvl7pPr lvl="6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7pPr>
            <a:lvl8pPr lvl="7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8pPr>
            <a:lvl9pPr lvl="8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9pPr>
          </a:lstStyle>
          <a:p/>
        </p:txBody>
      </p:sp>
      <p:sp>
        <p:nvSpPr>
          <p:cNvPr id="74" name="Google Shape;74;p14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5"/>
          <p:cNvSpPr/>
          <p:nvPr/>
        </p:nvSpPr>
        <p:spPr>
          <a:xfrm>
            <a:off x="6096000" y="-167"/>
            <a:ext cx="6096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15"/>
          <p:cNvSpPr txBox="1"/>
          <p:nvPr>
            <p:ph type="title"/>
          </p:nvPr>
        </p:nvSpPr>
        <p:spPr>
          <a:xfrm>
            <a:off x="354000" y="1644233"/>
            <a:ext cx="5393700" cy="19764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/>
        </p:txBody>
      </p:sp>
      <p:sp>
        <p:nvSpPr>
          <p:cNvPr id="78" name="Google Shape;78;p15"/>
          <p:cNvSpPr txBox="1"/>
          <p:nvPr>
            <p:ph idx="1" type="subTitle"/>
          </p:nvPr>
        </p:nvSpPr>
        <p:spPr>
          <a:xfrm>
            <a:off x="354000" y="3737433"/>
            <a:ext cx="5393700" cy="1646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79" name="Google Shape;79;p15"/>
          <p:cNvSpPr txBox="1"/>
          <p:nvPr>
            <p:ph idx="2" type="body"/>
          </p:nvPr>
        </p:nvSpPr>
        <p:spPr>
          <a:xfrm>
            <a:off x="6586000" y="965433"/>
            <a:ext cx="5115900" cy="49269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80" name="Google Shape;80;p15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/>
          <p:nvPr>
            <p:ph idx="1" type="body"/>
          </p:nvPr>
        </p:nvSpPr>
        <p:spPr>
          <a:xfrm>
            <a:off x="415600" y="5640767"/>
            <a:ext cx="7998300" cy="806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/>
        </p:txBody>
      </p:sp>
      <p:sp>
        <p:nvSpPr>
          <p:cNvPr id="83" name="Google Shape;83;p16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7"/>
          <p:cNvSpPr txBox="1"/>
          <p:nvPr>
            <p:ph hasCustomPrompt="1" type="title"/>
          </p:nvPr>
        </p:nvSpPr>
        <p:spPr>
          <a:xfrm>
            <a:off x="415600" y="1474833"/>
            <a:ext cx="11360700" cy="26181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9pPr>
          </a:lstStyle>
          <a:p>
            <a:r>
              <a:t>xx%</a:t>
            </a:r>
          </a:p>
        </p:txBody>
      </p:sp>
      <p:sp>
        <p:nvSpPr>
          <p:cNvPr id="86" name="Google Shape;86;p17"/>
          <p:cNvSpPr txBox="1"/>
          <p:nvPr>
            <p:ph idx="1" type="body"/>
          </p:nvPr>
        </p:nvSpPr>
        <p:spPr>
          <a:xfrm>
            <a:off x="415600" y="4202967"/>
            <a:ext cx="11360700" cy="17343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 algn="ctr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 algn="ctr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 algn="ctr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 algn="ctr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 algn="ctr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 algn="ctr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 algn="ctr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 algn="ctr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 algn="ctr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87" name="Google Shape;87;p17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8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theme" Target="../theme/theme3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slideLayout" Target="../slideLayouts/slideLayout7.xml"/><Relationship Id="rId3" Type="http://schemas.openxmlformats.org/officeDocument/2006/relationships/slideLayout" Target="../slideLayouts/slideLayout8.xml"/><Relationship Id="rId4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15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0.xml"/><Relationship Id="rId6" Type="http://schemas.openxmlformats.org/officeDocument/2006/relationships/slideLayout" Target="../slideLayouts/slideLayout11.xml"/><Relationship Id="rId7" Type="http://schemas.openxmlformats.org/officeDocument/2006/relationships/slideLayout" Target="../slideLayouts/slideLayout12.xml"/><Relationship Id="rId8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415600" y="77311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Font typeface="Raleway"/>
              <a:buNone/>
              <a:defRPr b="1" sz="3700"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Font typeface="Raleway"/>
              <a:buNone/>
              <a:defRPr b="1" sz="3700"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Font typeface="Raleway"/>
              <a:buNone/>
              <a:defRPr b="1" sz="3700"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Font typeface="Raleway"/>
              <a:buNone/>
              <a:defRPr b="1" sz="3700"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Font typeface="Raleway"/>
              <a:buNone/>
              <a:defRPr b="1" sz="3700"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Font typeface="Raleway"/>
              <a:buNone/>
              <a:defRPr b="1" sz="3700"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Font typeface="Raleway"/>
              <a:buNone/>
              <a:defRPr b="1" sz="3700"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Font typeface="Raleway"/>
              <a:buNone/>
              <a:defRPr b="1" sz="3700"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Font typeface="Raleway"/>
              <a:buNone/>
              <a:defRPr b="1" sz="37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415600" y="1865613"/>
            <a:ext cx="11360700" cy="4199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3365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700"/>
              <a:buFont typeface="Lato"/>
              <a:buChar char="●"/>
              <a:defRPr sz="17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23850" lvl="1" marL="91440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ato"/>
              <a:buChar char="○"/>
              <a:defRPr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23850" lvl="2" marL="137160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ato"/>
              <a:buChar char="■"/>
              <a:defRPr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23850" lvl="3" marL="182880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ato"/>
              <a:buChar char="●"/>
              <a:defRPr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23850" lvl="4" marL="228600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ato"/>
              <a:buChar char="○"/>
              <a:defRPr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23850" lvl="5" marL="274320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ato"/>
              <a:buChar char="■"/>
              <a:defRPr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23850" lvl="6" marL="320040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ato"/>
              <a:buChar char="●"/>
              <a:defRPr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23850" lvl="7" marL="365760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ato"/>
              <a:buChar char="○"/>
              <a:defRPr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23850" lvl="8" marL="4114800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Clr>
                <a:schemeClr val="accent1"/>
              </a:buClr>
              <a:buSzPts val="1500"/>
              <a:buFont typeface="Lato"/>
              <a:buChar char="■"/>
              <a:defRPr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2" type="sldNum"/>
          </p:nvPr>
        </p:nvSpPr>
        <p:spPr>
          <a:xfrm>
            <a:off x="11381736" y="6333134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 algn="r">
              <a:buNone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13" name="Google Shape;13;p1"/>
          <p:cNvPicPr preferRelativeResize="0"/>
          <p:nvPr/>
        </p:nvPicPr>
        <p:blipFill rotWithShape="1">
          <a:blip r:embed="rId1">
            <a:alphaModFix/>
          </a:blip>
          <a:srcRect b="34470" l="15853" r="17114" t="31506"/>
          <a:stretch/>
        </p:blipFill>
        <p:spPr>
          <a:xfrm>
            <a:off x="101600" y="-1633"/>
            <a:ext cx="1766324" cy="652033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</p:sldLayoutIdLst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7" name="Google Shape;47;p7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Char char="●"/>
              <a:defRPr sz="2400">
                <a:solidFill>
                  <a:schemeClr val="dk2"/>
                </a:solidFill>
              </a:defRPr>
            </a:lvl1pPr>
            <a:lvl2pPr indent="-3492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○"/>
              <a:defRPr sz="1900">
                <a:solidFill>
                  <a:schemeClr val="dk2"/>
                </a:solidFill>
              </a:defRPr>
            </a:lvl2pPr>
            <a:lvl3pPr indent="-3492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■"/>
              <a:defRPr sz="1900">
                <a:solidFill>
                  <a:schemeClr val="dk2"/>
                </a:solidFill>
              </a:defRPr>
            </a:lvl3pPr>
            <a:lvl4pPr indent="-3492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●"/>
              <a:defRPr sz="1900">
                <a:solidFill>
                  <a:schemeClr val="dk2"/>
                </a:solidFill>
              </a:defRPr>
            </a:lvl4pPr>
            <a:lvl5pPr indent="-3492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○"/>
              <a:defRPr sz="1900">
                <a:solidFill>
                  <a:schemeClr val="dk2"/>
                </a:solidFill>
              </a:defRPr>
            </a:lvl5pPr>
            <a:lvl6pPr indent="-3492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■"/>
              <a:defRPr sz="1900">
                <a:solidFill>
                  <a:schemeClr val="dk2"/>
                </a:solidFill>
              </a:defRPr>
            </a:lvl6pPr>
            <a:lvl7pPr indent="-3492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●"/>
              <a:defRPr sz="1900">
                <a:solidFill>
                  <a:schemeClr val="dk2"/>
                </a:solidFill>
              </a:defRPr>
            </a:lvl7pPr>
            <a:lvl8pPr indent="-3492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○"/>
              <a:defRPr sz="1900">
                <a:solidFill>
                  <a:schemeClr val="dk2"/>
                </a:solidFill>
              </a:defRPr>
            </a:lvl8pPr>
            <a:lvl9pPr indent="-3492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■"/>
              <a:defRPr sz="19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algn="r">
              <a:buNone/>
              <a:defRPr sz="1300">
                <a:solidFill>
                  <a:schemeClr val="dk2"/>
                </a:solidFill>
              </a:defRPr>
            </a:lvl1pPr>
            <a:lvl2pPr lvl="1" algn="r">
              <a:buNone/>
              <a:defRPr sz="1300">
                <a:solidFill>
                  <a:schemeClr val="dk2"/>
                </a:solidFill>
              </a:defRPr>
            </a:lvl2pPr>
            <a:lvl3pPr lvl="2" algn="r">
              <a:buNone/>
              <a:defRPr sz="1300">
                <a:solidFill>
                  <a:schemeClr val="dk2"/>
                </a:solidFill>
              </a:defRPr>
            </a:lvl3pPr>
            <a:lvl4pPr lvl="3" algn="r">
              <a:buNone/>
              <a:defRPr sz="1300">
                <a:solidFill>
                  <a:schemeClr val="dk2"/>
                </a:solidFill>
              </a:defRPr>
            </a:lvl4pPr>
            <a:lvl5pPr lvl="4" algn="r">
              <a:buNone/>
              <a:defRPr sz="1300">
                <a:solidFill>
                  <a:schemeClr val="dk2"/>
                </a:solidFill>
              </a:defRPr>
            </a:lvl5pPr>
            <a:lvl6pPr lvl="5" algn="r">
              <a:buNone/>
              <a:defRPr sz="1300">
                <a:solidFill>
                  <a:schemeClr val="dk2"/>
                </a:solidFill>
              </a:defRPr>
            </a:lvl6pPr>
            <a:lvl7pPr lvl="6" algn="r">
              <a:buNone/>
              <a:defRPr sz="1300">
                <a:solidFill>
                  <a:schemeClr val="dk2"/>
                </a:solidFill>
              </a:defRPr>
            </a:lvl7pPr>
            <a:lvl8pPr lvl="7" algn="r">
              <a:buNone/>
              <a:defRPr sz="1300">
                <a:solidFill>
                  <a:schemeClr val="dk2"/>
                </a:solidFill>
              </a:defRPr>
            </a:lvl8pPr>
            <a:lvl9pPr lvl="8" algn="r">
              <a:buNone/>
              <a:defRPr sz="13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3" r:id="rId1"/>
    <p:sldLayoutId id="2147483654" r:id="rId2"/>
    <p:sldLayoutId id="2147483655" r:id="rId3"/>
    <p:sldLayoutId id="2147483656" r:id="rId4"/>
    <p:sldLayoutId id="2147483657" r:id="rId5"/>
    <p:sldLayoutId id="2147483658" r:id="rId6"/>
    <p:sldLayoutId id="2147483659" r:id="rId7"/>
    <p:sldLayoutId id="2147483660" r:id="rId8"/>
    <p:sldLayoutId id="2147483661" r:id="rId9"/>
    <p:sldLayoutId id="2147483662" r:id="rId10"/>
    <p:sldLayoutId id="2147483663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.png"/><Relationship Id="rId4" Type="http://schemas.openxmlformats.org/officeDocument/2006/relationships/hyperlink" Target="https://github.com/deivisontakatu/projeto-pipeline-testes/commits/main/" TargetMode="Externa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hyperlink" Target="https://www.mdpi.com/1999-5903/17/4/153" TargetMode="Externa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9"/>
          <p:cNvSpPr txBox="1"/>
          <p:nvPr>
            <p:ph type="ctrTitle"/>
          </p:nvPr>
        </p:nvSpPr>
        <p:spPr>
          <a:xfrm>
            <a:off x="970600" y="2581950"/>
            <a:ext cx="10250700" cy="17283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rgbClr val="202529"/>
                </a:solidFill>
              </a:rPr>
              <a:t>Ferramentas de Integração e Entrega Contínua</a:t>
            </a:r>
            <a:endParaRPr>
              <a:solidFill>
                <a:srgbClr val="202529"/>
              </a:solidFill>
            </a:endParaRPr>
          </a:p>
        </p:txBody>
      </p:sp>
      <p:sp>
        <p:nvSpPr>
          <p:cNvPr id="96" name="Google Shape;96;p19"/>
          <p:cNvSpPr txBox="1"/>
          <p:nvPr>
            <p:ph idx="1" type="subTitle"/>
          </p:nvPr>
        </p:nvSpPr>
        <p:spPr>
          <a:xfrm>
            <a:off x="599400" y="5165567"/>
            <a:ext cx="10993200" cy="11676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/>
              <a:t>Prof. Me. Deivison S. Takatu</a:t>
            </a:r>
            <a:endParaRPr b="1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deivison.takatu@fatec.sp.gov.br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59000" y="976900"/>
            <a:ext cx="11274000" cy="713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/>
              <a:t>Sumário</a:t>
            </a:r>
            <a:endParaRPr b="1"/>
          </a:p>
        </p:txBody>
      </p:sp>
      <p:sp>
        <p:nvSpPr>
          <p:cNvPr id="103" name="Google Shape;103;p20"/>
          <p:cNvSpPr txBox="1"/>
          <p:nvPr>
            <p:ph idx="1" type="body"/>
          </p:nvPr>
        </p:nvSpPr>
        <p:spPr>
          <a:xfrm>
            <a:off x="459000" y="1982600"/>
            <a:ext cx="11274000" cy="39204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-431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Char char="●"/>
            </a:pPr>
            <a:r>
              <a:rPr lang="pt-BR"/>
              <a:t>DevOps e CI/CD;</a:t>
            </a:r>
            <a:endParaRPr/>
          </a:p>
          <a:p>
            <a:pPr indent="-431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Char char="●"/>
            </a:pPr>
            <a:r>
              <a:rPr lang="pt-BR"/>
              <a:t>Ferramentas de CI/CD;</a:t>
            </a:r>
            <a:endParaRPr/>
          </a:p>
          <a:p>
            <a:pPr indent="-431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Char char="●"/>
            </a:pPr>
            <a:r>
              <a:rPr lang="pt-BR"/>
              <a:t>GitHub Actions;</a:t>
            </a:r>
            <a:endParaRPr/>
          </a:p>
          <a:p>
            <a:pPr indent="-431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Char char="●"/>
            </a:pPr>
            <a:r>
              <a:rPr lang="pt-BR"/>
              <a:t>Entregas de Software e Automação;</a:t>
            </a:r>
            <a:endParaRPr/>
          </a:p>
          <a:p>
            <a:pPr indent="-431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Char char="●"/>
            </a:pPr>
            <a:r>
              <a:rPr lang="pt-BR"/>
              <a:t>Pipelines no Github Action;</a:t>
            </a:r>
            <a:endParaRPr/>
          </a:p>
          <a:p>
            <a:pPr indent="-431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Char char="●"/>
            </a:pPr>
            <a:r>
              <a:rPr lang="pt-BR"/>
              <a:t>Atividade Prática.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1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0541"/>
              <a:buFont typeface="Arial"/>
              <a:buNone/>
            </a:pPr>
            <a:r>
              <a:rPr lang="pt-BR"/>
              <a:t>DevOps: O Ciclo Infinito do Desenvolvimento Moderno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21"/>
          <p:cNvSpPr txBox="1"/>
          <p:nvPr>
            <p:ph idx="1" type="body"/>
          </p:nvPr>
        </p:nvSpPr>
        <p:spPr>
          <a:xfrm>
            <a:off x="415600" y="1536633"/>
            <a:ext cx="4578900" cy="4555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 lnSpcReduction="20000"/>
          </a:bodyPr>
          <a:lstStyle/>
          <a:p>
            <a:pPr indent="609600" lvl="0" marL="0" rtl="0" algn="just">
              <a:spcBef>
                <a:spcPts val="0"/>
              </a:spcBef>
              <a:spcAft>
                <a:spcPts val="1600"/>
              </a:spcAft>
              <a:buNone/>
            </a:pPr>
            <a:r>
              <a:rPr lang="pt-BR"/>
              <a:t>DevOps é uma cultura, filosofia e conjunto de práticas que integra as equipes de Desenvolvimento (DEV) e Operações (OPS), eliminando silos organizacionais e acelerando a entrega de software com qualidade e confiabilidade.</a:t>
            </a:r>
            <a:endParaRPr/>
          </a:p>
        </p:txBody>
      </p:sp>
      <p:pic>
        <p:nvPicPr>
          <p:cNvPr id="110" name="Google Shape;110;p21" title="DevOp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52400" y="1356967"/>
            <a:ext cx="7339600" cy="4793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2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PLAN - Planejamento</a:t>
            </a:r>
            <a:endParaRPr/>
          </a:p>
        </p:txBody>
      </p:sp>
      <p:sp>
        <p:nvSpPr>
          <p:cNvPr id="116" name="Google Shape;116;p22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 lnSpcReduction="10000"/>
          </a:bodyPr>
          <a:lstStyle/>
          <a:p>
            <a:pPr indent="60960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pt-BR"/>
              <a:t>O planejamento é o ponto de partida do loop infinito. Nesta etapa, as equipes definem o que será desenvolvido, como e quando, utilizando metodologias ágeis para organizar prioridades, distribuir tarefas e alinhar expectativas entre produto, desenvolvimento e operações.</a:t>
            </a:r>
            <a:endParaRPr/>
          </a:p>
          <a:p>
            <a:pPr indent="-457200" lvl="0" marL="609600" rtl="0" algn="just">
              <a:spcBef>
                <a:spcPts val="1600"/>
              </a:spcBef>
              <a:spcAft>
                <a:spcPts val="0"/>
              </a:spcAft>
              <a:buSzPts val="2400"/>
              <a:buChar char="●"/>
            </a:pPr>
            <a:r>
              <a:rPr lang="pt-BR"/>
              <a:t>Jira Gestão de projetos ágeis com sprints, roadmaps e rastreabilidade</a:t>
            </a:r>
            <a:endParaRPr/>
          </a:p>
          <a:p>
            <a:pPr indent="-457200" lvl="0" marL="609600" rtl="0" algn="just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pt-BR"/>
              <a:t>Trello Quadros Kanban visuais para equipes menores e gestão de tarefas</a:t>
            </a:r>
            <a:endParaRPr/>
          </a:p>
          <a:p>
            <a:pPr indent="-457200" lvl="0" marL="609600" rtl="0" algn="just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pt-BR"/>
              <a:t>Azure Boards Planejamento integrado ao ecossistema Microsoft Azure DevOps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3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CODE - Codificação</a:t>
            </a:r>
            <a:endParaRPr/>
          </a:p>
        </p:txBody>
      </p:sp>
      <p:sp>
        <p:nvSpPr>
          <p:cNvPr id="122" name="Google Shape;122;p23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 lnSpcReduction="10000"/>
          </a:bodyPr>
          <a:lstStyle/>
          <a:p>
            <a:pPr indent="-457200" lvl="0" marL="609600" rtl="0" algn="just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pt-BR"/>
              <a:t>A etapa de codificação é onde as ideias planejadas ganham forma técnica. Nesta fase, os desenvolvedores escrevem, revisam e versionam o código-fonte de forma colaborativa, garantindo rastreabilidade, segurança e qualidade desde o início.</a:t>
            </a:r>
            <a:endParaRPr/>
          </a:p>
          <a:p>
            <a:pPr indent="-457200" lvl="0" marL="609600" rtl="0" algn="just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pt-BR"/>
              <a:t>Boas Práticas de Codificação no DevOps</a:t>
            </a:r>
            <a:endParaRPr/>
          </a:p>
          <a:p>
            <a:pPr indent="-425450" lvl="1" marL="1219200" rtl="0" algn="just">
              <a:spcBef>
                <a:spcPts val="0"/>
              </a:spcBef>
              <a:spcAft>
                <a:spcPts val="0"/>
              </a:spcAft>
              <a:buSzPts val="1900"/>
              <a:buChar char="○"/>
            </a:pPr>
            <a:r>
              <a:rPr lang="pt-BR"/>
              <a:t>Escrever código limpo e legível </a:t>
            </a:r>
            <a:endParaRPr/>
          </a:p>
          <a:p>
            <a:pPr indent="-425450" lvl="1" marL="1219200" rtl="0" algn="just">
              <a:spcBef>
                <a:spcPts val="0"/>
              </a:spcBef>
              <a:spcAft>
                <a:spcPts val="0"/>
              </a:spcAft>
              <a:buSzPts val="1900"/>
              <a:buChar char="○"/>
            </a:pPr>
            <a:r>
              <a:rPr lang="pt-BR"/>
              <a:t>Utilizar ferramentas de desenvolvimentos (IDEs)</a:t>
            </a:r>
            <a:endParaRPr/>
          </a:p>
          <a:p>
            <a:pPr indent="-425450" lvl="1" marL="1219200" rtl="0" algn="just">
              <a:spcBef>
                <a:spcPts val="0"/>
              </a:spcBef>
              <a:spcAft>
                <a:spcPts val="0"/>
              </a:spcAft>
              <a:buSzPts val="1900"/>
              <a:buChar char="○"/>
            </a:pPr>
            <a:r>
              <a:rPr lang="pt-BR"/>
              <a:t>Manter testes </a:t>
            </a:r>
            <a:endParaRPr/>
          </a:p>
          <a:p>
            <a:pPr indent="-425450" lvl="1" marL="1219200" rtl="0" algn="just">
              <a:spcBef>
                <a:spcPts val="0"/>
              </a:spcBef>
              <a:spcAft>
                <a:spcPts val="0"/>
              </a:spcAft>
              <a:buSzPts val="1900"/>
              <a:buChar char="○"/>
            </a:pPr>
            <a:r>
              <a:rPr lang="pt-BR"/>
              <a:t>Documentar o projeto.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4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0541"/>
              <a:buFont typeface="Arial"/>
              <a:buNone/>
            </a:pPr>
            <a:r>
              <a:rPr lang="pt-BR"/>
              <a:t>BUILD - Compilação e Build Automatizado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0541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24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-457200" lvl="0" marL="609600" rtl="0" algn="just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pt-BR"/>
              <a:t>A etapa de Build transforma o código-fonte em um artefato executável — um arquivo JAR, imagem Docker, pacote NPM ou binário — pronto para ser testado e implantado. A automação deste processo elimina erros humanos e garante builds consistentes e reproduzíveis. Etapas:</a:t>
            </a:r>
            <a:endParaRPr/>
          </a:p>
          <a:p>
            <a:pPr indent="-425450" lvl="1" marL="1219200" rtl="0" algn="just">
              <a:spcBef>
                <a:spcPts val="0"/>
              </a:spcBef>
              <a:spcAft>
                <a:spcPts val="0"/>
              </a:spcAft>
              <a:buSzPts val="1900"/>
              <a:buChar char="○"/>
            </a:pPr>
            <a:r>
              <a:rPr lang="pt-BR"/>
              <a:t>Compilação: transformação do código-fonte em bytecode ou binário</a:t>
            </a:r>
            <a:endParaRPr/>
          </a:p>
          <a:p>
            <a:pPr indent="-425450" lvl="1" marL="1219200" rtl="0" algn="just">
              <a:spcBef>
                <a:spcPts val="0"/>
              </a:spcBef>
              <a:spcAft>
                <a:spcPts val="0"/>
              </a:spcAft>
              <a:buSzPts val="1900"/>
              <a:buChar char="○"/>
            </a:pPr>
            <a:r>
              <a:rPr lang="pt-BR"/>
              <a:t>Resolução de dependências: download automático de bibliotecas</a:t>
            </a:r>
            <a:endParaRPr/>
          </a:p>
          <a:p>
            <a:pPr indent="-425450" lvl="1" marL="1219200" rtl="0" algn="just">
              <a:spcBef>
                <a:spcPts val="0"/>
              </a:spcBef>
              <a:spcAft>
                <a:spcPts val="0"/>
              </a:spcAft>
              <a:buSzPts val="1900"/>
              <a:buChar char="○"/>
            </a:pPr>
            <a:r>
              <a:rPr lang="pt-BR"/>
              <a:t>Empacotamento: geração de JAR, WAR, ZIP, imagem Docker</a:t>
            </a:r>
            <a:endParaRPr/>
          </a:p>
          <a:p>
            <a:pPr indent="-425450" lvl="1" marL="1219200" rtl="0" algn="just">
              <a:spcBef>
                <a:spcPts val="0"/>
              </a:spcBef>
              <a:spcAft>
                <a:spcPts val="0"/>
              </a:spcAft>
              <a:buSzPts val="1900"/>
              <a:buChar char="○"/>
            </a:pPr>
            <a:r>
              <a:rPr lang="pt-BR"/>
              <a:t>Análise estática: verificação de qualidade de código (SonarQube)</a:t>
            </a:r>
            <a:endParaRPr/>
          </a:p>
          <a:p>
            <a:pPr indent="-425450" lvl="1" marL="1219200" rtl="0" algn="just">
              <a:spcBef>
                <a:spcPts val="0"/>
              </a:spcBef>
              <a:spcAft>
                <a:spcPts val="0"/>
              </a:spcAft>
              <a:buSzPts val="1900"/>
              <a:buChar char="○"/>
            </a:pPr>
            <a:r>
              <a:rPr lang="pt-BR"/>
              <a:t>Publicação de artefato: versionamento e armazenamento seguro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5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0541"/>
              <a:buFont typeface="Arial"/>
              <a:buNone/>
            </a:pPr>
            <a:r>
              <a:rPr lang="pt-BR"/>
              <a:t>TEST - Testes Automatizados e Qualidade de Software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0541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25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-457200" lvl="0" marL="609600" rtl="0" algn="just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pt-BR"/>
              <a:t>Testes automatizados são o guardião da qualidade no ciclo DevOps. Ao integrar testes diretamente no pipeline de CI/CD, problemas são detectados rapidamente - antes de chegarem ao usuário final. O objetivo é garantir que cada build seja confiável, funcional e seguro.</a:t>
            </a:r>
            <a:endParaRPr/>
          </a:p>
          <a:p>
            <a:pPr indent="-457200" lvl="0" marL="609600" rtl="0" algn="just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b="1" lang="pt-BR"/>
              <a:t>Exemplo</a:t>
            </a:r>
            <a:r>
              <a:rPr lang="pt-BR"/>
              <a:t>: Uma plataforma de delivery executa +3.000 testes automatizados a cada novo deploy. O pipeline válida: cálculo de frete, processamento de pagamentos, notificações push e fluxo completo de pedido - tudo em menos de 8 minutos, sem intervenção humana.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6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0541"/>
              <a:buFont typeface="Arial"/>
              <a:buNone/>
            </a:pPr>
            <a:r>
              <a:rPr lang="pt-BR"/>
              <a:t>RELEASE - Liberação e Controle de Versões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0541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26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-457200" lvl="0" marL="609600" rtl="0" algn="just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pt-BR"/>
              <a:t>A etapa de Release é o ponto de decisão no pipeline DevOps: o software foi desenvolvido, compilado e testado - agora precisa ser aprovado, versionado e preparado para produção. É o momento em que qualidade e governança garantem que apenas código confiável avança.</a:t>
            </a:r>
            <a:endParaRPr/>
          </a:p>
          <a:p>
            <a:pPr indent="-457200" lvl="0" marL="609600" rtl="0" algn="just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pt-BR"/>
              <a:t>No Release, o artefato gerado no Build recebe um número de versão semântica (ex: v2.4.1) seguindo o padrão Major.Minor.Patch. Gates de qualidade (Quality Gates) verificam cobertura de testes, análise de segurança e aprovação manual de stakeholders antes de avançar.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7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0541"/>
              <a:buFont typeface="Arial"/>
              <a:buNone/>
            </a:pPr>
            <a:r>
              <a:rPr lang="pt-BR"/>
              <a:t>DEPLOY - Implantação Automatizada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0541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27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 lnSpcReduction="20000"/>
          </a:bodyPr>
          <a:lstStyle/>
          <a:p>
            <a:pPr indent="-457200" lvl="0" marL="609600" rtl="0" algn="just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pt-BR"/>
              <a:t>O Deploy é o momento em que o software aprovado é implantado nos ambientes de produção de forma automatizada, rápida e confiável. Com a cultura DevOps, implantações que antes levavam dias agora acontecem em minutos — com risco reduzido e reversão automática em caso de falha.</a:t>
            </a:r>
            <a:endParaRPr/>
          </a:p>
          <a:p>
            <a:pPr indent="-457200" lvl="0" marL="609600" rtl="0" algn="just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b="1" lang="pt-BR"/>
              <a:t>Exemplo</a:t>
            </a:r>
            <a:r>
              <a:rPr lang="pt-BR"/>
              <a:t>: Uma empresa de streaming possui 47 microsserviços independentes. Com Kubernetes no AWS EKS, cada serviço é implantado automaticamente via pipeline GitLab: a imagem Docker é construída, publicada no ECR (registry AWS) e o Kubernetes atualiza os pods em rolling update — sem downtime e com rollback automático se o health check falhar.;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8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0541"/>
              <a:buFont typeface="Arial"/>
              <a:buNone/>
            </a:pPr>
            <a:r>
              <a:rPr lang="pt-BR"/>
              <a:t>OPERATE - Operação e Gestão de Infraestrutura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0541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28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 fontScale="92500" lnSpcReduction="20000"/>
          </a:bodyPr>
          <a:lstStyle/>
          <a:p>
            <a:pPr indent="-445770" lvl="0" marL="609600" rtl="0" algn="just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pt-BR"/>
              <a:t>Garante que a aplicação em produção permaneça estável, disponível e escalável. Com práticas de automação operacional, as equipes de Ops deixam de apagar incêndios manualmente e passam a gerenciar infraestrutura como código, respondendo proativamente a mudanças de demanda.</a:t>
            </a:r>
            <a:endParaRPr/>
          </a:p>
          <a:p>
            <a:pPr indent="-445770" lvl="0" marL="609600" rtl="0" algn="just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lang="pt-BR"/>
              <a:t>Exemplo</a:t>
            </a:r>
            <a:r>
              <a:rPr lang="pt-BR"/>
              <a:t>: Uma plataforma de streaming como o modelo Netflix opera com milhares de servidores globais. Durante horários de pico (novelas, jogos ao vivo), o Kubernetes aumenta automaticamente o número de réplicas dos serviços de transcodificação e entrega de conteúdo. O balanceamento de carga distribui requisições entre instâncias saudáveis, enquanto o Ansible garante configurações uniformes em todos os nós.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9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0541"/>
              <a:buFont typeface="Arial"/>
              <a:buNone/>
            </a:pPr>
            <a:r>
              <a:rPr lang="pt-BR"/>
              <a:t>MONITOR - Observabilidade e Monitoramento Contínuo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0541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29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O Monitoramento fecha o loop infinito do DevOps. É a etapa onde a equipe obtém visibilidade total do sistema em produção - coletando métricas, logs e traces para detectar anomalias, entender comportamentos e alimentar o próximo ciclo de planejamento com dados reais.</a:t>
            </a:r>
            <a:endParaRPr/>
          </a:p>
          <a:p>
            <a:pPr indent="0" lvl="0" marL="0" rtl="0" algn="just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29"/>
          <p:cNvSpPr/>
          <p:nvPr/>
        </p:nvSpPr>
        <p:spPr>
          <a:xfrm>
            <a:off x="4846367" y="3715233"/>
            <a:ext cx="3402900" cy="1525200"/>
          </a:xfrm>
          <a:prstGeom prst="roundRect">
            <a:avLst>
              <a:gd fmla="val 4994" name="adj"/>
            </a:avLst>
          </a:prstGeom>
          <a:solidFill>
            <a:srgbClr val="E1E1EA"/>
          </a:solidFill>
          <a:ln cap="flat" cmpd="sng" w="20225">
            <a:solidFill>
              <a:srgbClr val="C7C7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94425" lIns="194425" spcFirstLastPara="1" rIns="194425" wrap="square" tIns="194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/>
          </a:p>
        </p:txBody>
      </p:sp>
      <p:sp>
        <p:nvSpPr>
          <p:cNvPr id="160" name="Google Shape;160;p29"/>
          <p:cNvSpPr/>
          <p:nvPr/>
        </p:nvSpPr>
        <p:spPr>
          <a:xfrm>
            <a:off x="5057702" y="3926570"/>
            <a:ext cx="2502000" cy="3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Raleway"/>
              <a:buNone/>
            </a:pPr>
            <a:r>
              <a:rPr i="0" lang="pt-BR" sz="1900" u="none" cap="none" strike="noStrike">
                <a:solidFill>
                  <a:srgbClr val="000000"/>
                </a:solidFill>
              </a:rPr>
              <a:t>📊</a:t>
            </a:r>
            <a:r>
              <a:rPr i="0" lang="pt-BR" sz="1900" u="none" cap="none" strike="noStrike">
                <a:solidFill>
                  <a:srgbClr val="3C3939"/>
                </a:solidFill>
              </a:rPr>
              <a:t> Métricas</a:t>
            </a:r>
            <a:endParaRPr i="0" sz="1900" u="none" cap="none" strike="noStrike"/>
          </a:p>
        </p:txBody>
      </p:sp>
      <p:sp>
        <p:nvSpPr>
          <p:cNvPr id="161" name="Google Shape;161;p29"/>
          <p:cNvSpPr/>
          <p:nvPr/>
        </p:nvSpPr>
        <p:spPr>
          <a:xfrm>
            <a:off x="5037867" y="4314743"/>
            <a:ext cx="3019500" cy="73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8461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400"/>
              <a:buFont typeface="Roboto"/>
              <a:buNone/>
            </a:pPr>
            <a:r>
              <a:rPr i="0" lang="pt-BR" sz="1400" u="none" cap="none" strike="noStrike">
                <a:solidFill>
                  <a:srgbClr val="3C3939"/>
                </a:solidFill>
              </a:rPr>
              <a:t>Dados numéricos sobre o estado do sistema: CPU, memória, latência, taxa de erro, requisições/segundo</a:t>
            </a:r>
            <a:endParaRPr i="0" sz="1400" u="none" cap="none" strike="noStrike"/>
          </a:p>
        </p:txBody>
      </p:sp>
      <p:sp>
        <p:nvSpPr>
          <p:cNvPr id="162" name="Google Shape;162;p29"/>
          <p:cNvSpPr/>
          <p:nvPr/>
        </p:nvSpPr>
        <p:spPr>
          <a:xfrm>
            <a:off x="8373606" y="3715233"/>
            <a:ext cx="3402900" cy="1525200"/>
          </a:xfrm>
          <a:prstGeom prst="roundRect">
            <a:avLst>
              <a:gd fmla="val 4994" name="adj"/>
            </a:avLst>
          </a:prstGeom>
          <a:solidFill>
            <a:srgbClr val="E1E1EA"/>
          </a:solidFill>
          <a:ln cap="flat" cmpd="sng" w="20225">
            <a:solidFill>
              <a:srgbClr val="C7C7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94425" lIns="194425" spcFirstLastPara="1" rIns="194425" wrap="square" tIns="194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/>
          </a:p>
        </p:txBody>
      </p:sp>
      <p:sp>
        <p:nvSpPr>
          <p:cNvPr id="163" name="Google Shape;163;p29"/>
          <p:cNvSpPr/>
          <p:nvPr/>
        </p:nvSpPr>
        <p:spPr>
          <a:xfrm>
            <a:off x="8950312" y="3926570"/>
            <a:ext cx="2502000" cy="3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Raleway"/>
              <a:buNone/>
            </a:pPr>
            <a:r>
              <a:rPr i="0" lang="pt-BR" sz="1900" u="none" cap="none" strike="noStrike">
                <a:solidFill>
                  <a:srgbClr val="000000"/>
                </a:solidFill>
              </a:rPr>
              <a:t>📝</a:t>
            </a:r>
            <a:r>
              <a:rPr i="0" lang="pt-BR" sz="1900" u="none" cap="none" strike="noStrike">
                <a:solidFill>
                  <a:srgbClr val="3C3939"/>
                </a:solidFill>
              </a:rPr>
              <a:t> Logs</a:t>
            </a:r>
            <a:endParaRPr i="0" sz="1900" u="none" cap="none" strike="noStrike"/>
          </a:p>
        </p:txBody>
      </p:sp>
      <p:sp>
        <p:nvSpPr>
          <p:cNvPr id="164" name="Google Shape;164;p29"/>
          <p:cNvSpPr/>
          <p:nvPr/>
        </p:nvSpPr>
        <p:spPr>
          <a:xfrm>
            <a:off x="8565106" y="4314743"/>
            <a:ext cx="3019500" cy="73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8461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400"/>
              <a:buFont typeface="Roboto"/>
              <a:buNone/>
            </a:pPr>
            <a:r>
              <a:rPr i="0" lang="pt-BR" sz="1400" u="none" cap="none" strike="noStrike">
                <a:solidFill>
                  <a:srgbClr val="3C3939"/>
                </a:solidFill>
              </a:rPr>
              <a:t>Registros textuais de eventos do sistema: erros, transações, autenticações e ações de usuários</a:t>
            </a:r>
            <a:endParaRPr i="0" sz="1400" u="none" cap="none" strike="noStrike"/>
          </a:p>
        </p:txBody>
      </p:sp>
      <p:sp>
        <p:nvSpPr>
          <p:cNvPr id="165" name="Google Shape;165;p29"/>
          <p:cNvSpPr/>
          <p:nvPr/>
        </p:nvSpPr>
        <p:spPr>
          <a:xfrm>
            <a:off x="4846367" y="5365312"/>
            <a:ext cx="6929700" cy="1280400"/>
          </a:xfrm>
          <a:prstGeom prst="roundRect">
            <a:avLst>
              <a:gd fmla="val 5948" name="adj"/>
            </a:avLst>
          </a:prstGeom>
          <a:solidFill>
            <a:srgbClr val="E1E1EA"/>
          </a:solidFill>
          <a:ln cap="flat" cmpd="sng" w="20225">
            <a:solidFill>
              <a:srgbClr val="C7C7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94425" lIns="194425" spcFirstLastPara="1" rIns="194425" wrap="square" tIns="194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/>
          </a:p>
        </p:txBody>
      </p:sp>
      <p:sp>
        <p:nvSpPr>
          <p:cNvPr id="166" name="Google Shape;166;p29"/>
          <p:cNvSpPr/>
          <p:nvPr/>
        </p:nvSpPr>
        <p:spPr>
          <a:xfrm>
            <a:off x="5037867" y="5556813"/>
            <a:ext cx="2267100" cy="28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Raleway"/>
              <a:buNone/>
            </a:pPr>
            <a:r>
              <a:rPr i="0" lang="pt-BR" sz="1700" u="none" cap="none" strike="noStrike">
                <a:solidFill>
                  <a:srgbClr val="000000"/>
                </a:solidFill>
              </a:rPr>
              <a:t>🔍</a:t>
            </a:r>
            <a:r>
              <a:rPr i="0" lang="pt-BR" sz="1700" u="none" cap="none" strike="noStrike">
                <a:solidFill>
                  <a:srgbClr val="3C3939"/>
                </a:solidFill>
              </a:rPr>
              <a:t> Traces</a:t>
            </a:r>
            <a:endParaRPr i="0" sz="1700" u="none" cap="none" strike="noStrike"/>
          </a:p>
        </p:txBody>
      </p:sp>
      <p:sp>
        <p:nvSpPr>
          <p:cNvPr id="167" name="Google Shape;167;p29"/>
          <p:cNvSpPr/>
          <p:nvPr/>
        </p:nvSpPr>
        <p:spPr>
          <a:xfrm>
            <a:off x="5037867" y="5964821"/>
            <a:ext cx="6547200" cy="4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8461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400"/>
              <a:buFont typeface="Roboto"/>
              <a:buNone/>
            </a:pPr>
            <a:r>
              <a:rPr i="0" lang="pt-BR" sz="1400" u="none" cap="none" strike="noStrike">
                <a:solidFill>
                  <a:srgbClr val="3C3939"/>
                </a:solidFill>
              </a:rPr>
              <a:t>Rastreamento do caminho de uma requisição através de todos os serviços envolvidos no processamento</a:t>
            </a:r>
            <a:endParaRPr i="0" sz="1400" u="none" cap="none" strike="noStrike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30"/>
          <p:cNvSpPr txBox="1"/>
          <p:nvPr>
            <p:ph idx="1" type="body"/>
          </p:nvPr>
        </p:nvSpPr>
        <p:spPr>
          <a:xfrm>
            <a:off x="459000" y="1982600"/>
            <a:ext cx="11274000" cy="39204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457200" lvl="0" marL="0" rtl="0" algn="just">
              <a:spcBef>
                <a:spcPts val="0"/>
              </a:spcBef>
              <a:spcAft>
                <a:spcPts val="2100"/>
              </a:spcAft>
              <a:buNone/>
            </a:pPr>
            <a:r>
              <a:rPr lang="pt-BR" sz="2700"/>
              <a:t>As ferramentas de CI/CD automatizam diferentes partes do processo de desenvolvimento, integração, teste e entrega de software, permitindo executar tarefas de forma padronizada,</a:t>
            </a:r>
            <a:r>
              <a:rPr lang="pt-BR" sz="2700"/>
              <a:t> </a:t>
            </a:r>
            <a:r>
              <a:rPr lang="pt-BR" sz="2700"/>
              <a:t>repetível e com menor intervenção manual.</a:t>
            </a:r>
            <a:endParaRPr sz="2700"/>
          </a:p>
        </p:txBody>
      </p:sp>
      <p:sp>
        <p:nvSpPr>
          <p:cNvPr id="174" name="Google Shape;174;p30"/>
          <p:cNvSpPr txBox="1"/>
          <p:nvPr>
            <p:ph type="title"/>
          </p:nvPr>
        </p:nvSpPr>
        <p:spPr>
          <a:xfrm>
            <a:off x="459000" y="976900"/>
            <a:ext cx="11274000" cy="713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Ferramentas de CI/CD</a:t>
            </a:r>
            <a:endParaRPr/>
          </a:p>
        </p:txBody>
      </p:sp>
      <p:pic>
        <p:nvPicPr>
          <p:cNvPr id="175" name="Google Shape;175;p30"/>
          <p:cNvPicPr preferRelativeResize="0"/>
          <p:nvPr/>
        </p:nvPicPr>
        <p:blipFill rotWithShape="1">
          <a:blip r:embed="rId3">
            <a:alphaModFix/>
          </a:blip>
          <a:srcRect b="7520" l="0" r="0" t="20590"/>
          <a:stretch/>
        </p:blipFill>
        <p:spPr>
          <a:xfrm>
            <a:off x="3375549" y="3968102"/>
            <a:ext cx="5440901" cy="2370775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30"/>
          <p:cNvSpPr txBox="1"/>
          <p:nvPr/>
        </p:nvSpPr>
        <p:spPr>
          <a:xfrm>
            <a:off x="2868750" y="6338877"/>
            <a:ext cx="6454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600">
                <a:solidFill>
                  <a:schemeClr val="accent1"/>
                </a:solidFill>
              </a:rPr>
              <a:t>Fonte</a:t>
            </a:r>
            <a:r>
              <a:rPr lang="pt-BR" sz="1600">
                <a:solidFill>
                  <a:schemeClr val="accent1"/>
                </a:solidFill>
              </a:rPr>
              <a:t>: axify.io</a:t>
            </a:r>
            <a:endParaRPr sz="1600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31"/>
          <p:cNvSpPr txBox="1"/>
          <p:nvPr>
            <p:ph idx="1" type="body"/>
          </p:nvPr>
        </p:nvSpPr>
        <p:spPr>
          <a:xfrm>
            <a:off x="459000" y="1982600"/>
            <a:ext cx="11274000" cy="39204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pt-BR" sz="2200"/>
              <a:t>Integrar alterações de código automaticamente;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pt-BR" sz="2200"/>
              <a:t>Compilar e gerar versões do sistema;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pt-BR" sz="2200"/>
              <a:t>Executar testes automatizados;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pt-BR" sz="2200"/>
              <a:t>Verificar qualidade e segurança do código;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pt-BR" sz="2200"/>
              <a:t>Gerar e armazenar artefatos;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pt-BR" sz="2200"/>
              <a:t>Controlar versões e releases;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pt-BR" sz="2200"/>
              <a:t>Realizar deploy em diferentes ambientes;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pt-BR" sz="2200"/>
              <a:t>Monitorar resultados e identificar falhas;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pt-BR" sz="2200"/>
              <a:t>Integrar diferentes ferramentas e serviços do projeto.</a:t>
            </a:r>
            <a:endParaRPr sz="2200"/>
          </a:p>
        </p:txBody>
      </p:sp>
      <p:sp>
        <p:nvSpPr>
          <p:cNvPr id="183" name="Google Shape;183;p31"/>
          <p:cNvSpPr txBox="1"/>
          <p:nvPr>
            <p:ph type="title"/>
          </p:nvPr>
        </p:nvSpPr>
        <p:spPr>
          <a:xfrm>
            <a:off x="459000" y="976900"/>
            <a:ext cx="11274000" cy="713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Ferramentas de CI/CD - Utilidades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32"/>
          <p:cNvSpPr txBox="1"/>
          <p:nvPr>
            <p:ph idx="1" type="body"/>
          </p:nvPr>
        </p:nvSpPr>
        <p:spPr>
          <a:xfrm>
            <a:off x="459000" y="1982600"/>
            <a:ext cx="11274000" cy="39204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45720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100"/>
              <a:t>É uma plataforma de automação integrada ao GitHub, permitindo criar e executar fluxos de trabalho diretamente associados aos repositórios de código.</a:t>
            </a:r>
            <a:endParaRPr sz="3100"/>
          </a:p>
          <a:p>
            <a:pPr indent="457200" lvl="0" marL="0" rtl="0" algn="just">
              <a:spcBef>
                <a:spcPts val="2100"/>
              </a:spcBef>
              <a:spcAft>
                <a:spcPts val="2100"/>
              </a:spcAft>
              <a:buNone/>
            </a:pPr>
            <a:r>
              <a:rPr lang="pt-BR" sz="3100"/>
              <a:t>Os workflows podem ser configurados de acordo com eventos do repositório, como push, pull request, criação de tags ou releases.</a:t>
            </a:r>
            <a:endParaRPr sz="3100"/>
          </a:p>
        </p:txBody>
      </p:sp>
      <p:sp>
        <p:nvSpPr>
          <p:cNvPr id="190" name="Google Shape;190;p32"/>
          <p:cNvSpPr txBox="1"/>
          <p:nvPr>
            <p:ph type="title"/>
          </p:nvPr>
        </p:nvSpPr>
        <p:spPr>
          <a:xfrm>
            <a:off x="459000" y="976900"/>
            <a:ext cx="11274000" cy="713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GitHub Actions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33"/>
          <p:cNvSpPr txBox="1"/>
          <p:nvPr>
            <p:ph type="title"/>
          </p:nvPr>
        </p:nvSpPr>
        <p:spPr>
          <a:xfrm>
            <a:off x="459000" y="976900"/>
            <a:ext cx="11274000" cy="713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Entregas de Software e Automação</a:t>
            </a:r>
            <a:endParaRPr/>
          </a:p>
        </p:txBody>
      </p:sp>
      <p:grpSp>
        <p:nvGrpSpPr>
          <p:cNvPr id="197" name="Google Shape;197;p33"/>
          <p:cNvGrpSpPr/>
          <p:nvPr/>
        </p:nvGrpSpPr>
        <p:grpSpPr>
          <a:xfrm>
            <a:off x="830164" y="1836992"/>
            <a:ext cx="5146498" cy="1795413"/>
            <a:chOff x="4667250" y="952500"/>
            <a:chExt cx="4095900" cy="1428900"/>
          </a:xfrm>
        </p:grpSpPr>
        <p:sp>
          <p:nvSpPr>
            <p:cNvPr id="198" name="Google Shape;198;p33"/>
            <p:cNvSpPr/>
            <p:nvPr/>
          </p:nvSpPr>
          <p:spPr>
            <a:xfrm>
              <a:off x="4667250" y="952500"/>
              <a:ext cx="4095900" cy="1428900"/>
            </a:xfrm>
            <a:prstGeom prst="roundRect">
              <a:avLst>
                <a:gd fmla="val 6666" name="adj"/>
              </a:avLst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10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9" name="Google Shape;199;p33"/>
            <p:cNvSpPr txBox="1"/>
            <p:nvPr/>
          </p:nvSpPr>
          <p:spPr>
            <a:xfrm>
              <a:off x="4857750" y="1095375"/>
              <a:ext cx="37149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2062">
                  <a:solidFill>
                    <a:srgbClr val="434343"/>
                  </a:solidFill>
                  <a:latin typeface="Calibri"/>
                  <a:ea typeface="Calibri"/>
                  <a:cs typeface="Calibri"/>
                  <a:sym typeface="Calibri"/>
                </a:rPr>
                <a:t>DevOps</a:t>
              </a:r>
              <a:endParaRPr b="1" sz="2062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574465" lvl="0" marL="0" rtl="0" algn="just">
                <a:lnSpc>
                  <a:spcPct val="115000"/>
                </a:lnSpc>
                <a:spcBef>
                  <a:spcPts val="754"/>
                </a:spcBef>
                <a:spcAft>
                  <a:spcPts val="0"/>
                </a:spcAft>
                <a:buNone/>
              </a:pPr>
              <a:r>
                <a:rPr lang="pt-BR" sz="1559">
                  <a:solidFill>
                    <a:srgbClr val="434343"/>
                  </a:solidFill>
                  <a:latin typeface="Calibri"/>
                  <a:ea typeface="Calibri"/>
                  <a:cs typeface="Calibri"/>
                  <a:sym typeface="Calibri"/>
                </a:rPr>
                <a:t>Integra desenvolvimento, testes e operações por meio da automação, acelerando entregas de software com maior qualidade, estabilidade e redução de falhas.</a:t>
              </a:r>
              <a:endParaRPr i="1" sz="1559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00" name="Google Shape;200;p33"/>
          <p:cNvGrpSpPr/>
          <p:nvPr/>
        </p:nvGrpSpPr>
        <p:grpSpPr>
          <a:xfrm>
            <a:off x="829918" y="4001987"/>
            <a:ext cx="10532171" cy="2154269"/>
            <a:chOff x="381000" y="2571750"/>
            <a:chExt cx="8382150" cy="1714500"/>
          </a:xfrm>
        </p:grpSpPr>
        <p:sp>
          <p:nvSpPr>
            <p:cNvPr id="201" name="Google Shape;201;p33"/>
            <p:cNvSpPr/>
            <p:nvPr/>
          </p:nvSpPr>
          <p:spPr>
            <a:xfrm>
              <a:off x="381000" y="2571750"/>
              <a:ext cx="8382000" cy="1714500"/>
            </a:xfrm>
            <a:prstGeom prst="roundRect">
              <a:avLst>
                <a:gd fmla="val 5555" name="adj"/>
              </a:avLst>
            </a:prstGeom>
            <a:solidFill>
              <a:srgbClr val="20252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" name="Google Shape;202;p33"/>
            <p:cNvSpPr txBox="1"/>
            <p:nvPr/>
          </p:nvSpPr>
          <p:spPr>
            <a:xfrm>
              <a:off x="762000" y="2762245"/>
              <a:ext cx="4095900" cy="133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2262">
                  <a:solidFill>
                    <a:srgbClr val="F3F3F3"/>
                  </a:solidFill>
                </a:rPr>
                <a:t>O Papel das Pipelines</a:t>
              </a:r>
              <a:endParaRPr b="1" sz="2262">
                <a:solidFill>
                  <a:srgbClr val="F3F3F3"/>
                </a:solidFill>
              </a:endParaRPr>
            </a:p>
            <a:p>
              <a:pPr indent="574465" lvl="0" marL="0" rtl="0" algn="just">
                <a:spcBef>
                  <a:spcPts val="942"/>
                </a:spcBef>
                <a:spcAft>
                  <a:spcPts val="0"/>
                </a:spcAft>
                <a:buNone/>
              </a:pPr>
              <a:r>
                <a:rPr lang="pt-BR" sz="1508">
                  <a:solidFill>
                    <a:srgbClr val="F3F3F3"/>
                  </a:solidFill>
                </a:rPr>
                <a:t>As pipelines de CI tornaram-se fundamentais no desenvolvimento moderno, automatizando validações e garantindo qualidade contínua durante todo o ciclo de entrega.</a:t>
              </a:r>
              <a:endParaRPr sz="1508">
                <a:solidFill>
                  <a:srgbClr val="F3F3F3"/>
                </a:solidFill>
              </a:endParaRPr>
            </a:p>
          </p:txBody>
        </p:sp>
        <p:pic>
          <p:nvPicPr>
            <p:cNvPr descr="A high-tech digital visualization of a software delivery pipeline with glowing nodes and connecting lines, professional corporate style, dark theme." id="203" name="Google Shape;203;p33"/>
            <p:cNvPicPr preferRelativeResize="0"/>
            <p:nvPr/>
          </p:nvPicPr>
          <p:blipFill rotWithShape="1">
            <a:blip r:embed="rId3">
              <a:alphaModFix/>
            </a:blip>
            <a:srcRect b="4288" l="0" r="0" t="4288"/>
            <a:stretch/>
          </p:blipFill>
          <p:spPr>
            <a:xfrm>
              <a:off x="5429250" y="2571750"/>
              <a:ext cx="3333900" cy="1714500"/>
            </a:xfrm>
            <a:prstGeom prst="roundRect">
              <a:avLst>
                <a:gd fmla="val 5555" name="adj"/>
              </a:avLst>
            </a:prstGeom>
            <a:noFill/>
            <a:ln>
              <a:noFill/>
            </a:ln>
          </p:spPr>
        </p:pic>
      </p:grpSp>
      <p:sp>
        <p:nvSpPr>
          <p:cNvPr id="204" name="Google Shape;204;p33"/>
          <p:cNvSpPr txBox="1"/>
          <p:nvPr/>
        </p:nvSpPr>
        <p:spPr>
          <a:xfrm>
            <a:off x="830007" y="6156181"/>
            <a:ext cx="10531800" cy="47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i="1" lang="pt-BR" sz="1559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“Pipelines promovem qualidade contínua ao longo de todo o processo de entrega” SATO (2014).</a:t>
            </a:r>
            <a:endParaRPr i="1" sz="1559">
              <a:solidFill>
                <a:srgbClr val="43434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05" name="Google Shape;205;p33"/>
          <p:cNvGrpSpPr/>
          <p:nvPr/>
        </p:nvGrpSpPr>
        <p:grpSpPr>
          <a:xfrm>
            <a:off x="6215591" y="1837008"/>
            <a:ext cx="5146498" cy="1795413"/>
            <a:chOff x="4667250" y="952500"/>
            <a:chExt cx="4095900" cy="1428900"/>
          </a:xfrm>
        </p:grpSpPr>
        <p:sp>
          <p:nvSpPr>
            <p:cNvPr id="206" name="Google Shape;206;p33"/>
            <p:cNvSpPr/>
            <p:nvPr/>
          </p:nvSpPr>
          <p:spPr>
            <a:xfrm>
              <a:off x="4667250" y="952500"/>
              <a:ext cx="4095900" cy="1428900"/>
            </a:xfrm>
            <a:prstGeom prst="roundRect">
              <a:avLst>
                <a:gd fmla="val 6666" name="adj"/>
              </a:avLst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10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7" name="Google Shape;207;p33"/>
            <p:cNvSpPr txBox="1"/>
            <p:nvPr/>
          </p:nvSpPr>
          <p:spPr>
            <a:xfrm>
              <a:off x="4857750" y="1095375"/>
              <a:ext cx="37149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2062">
                  <a:solidFill>
                    <a:srgbClr val="434343"/>
                  </a:solidFill>
                  <a:latin typeface="Calibri"/>
                  <a:ea typeface="Calibri"/>
                  <a:cs typeface="Calibri"/>
                  <a:sym typeface="Calibri"/>
                </a:rPr>
                <a:t>Definição de Pipeline</a:t>
              </a:r>
              <a:endParaRPr b="1" sz="2062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574465" lvl="0" marL="0" rtl="0" algn="just">
                <a:lnSpc>
                  <a:spcPct val="115000"/>
                </a:lnSpc>
                <a:spcBef>
                  <a:spcPts val="754"/>
                </a:spcBef>
                <a:spcAft>
                  <a:spcPts val="0"/>
                </a:spcAft>
                <a:buNone/>
              </a:pPr>
              <a:r>
                <a:rPr lang="pt-BR" sz="1559">
                  <a:solidFill>
                    <a:srgbClr val="434343"/>
                  </a:solidFill>
                  <a:latin typeface="Calibri"/>
                  <a:ea typeface="Calibri"/>
                  <a:cs typeface="Calibri"/>
                  <a:sym typeface="Calibri"/>
                </a:rPr>
                <a:t>Sequência automatizada de estágios responsável por conduzir o software desde o commit até o deploy de forma confiável.</a:t>
              </a:r>
              <a:endParaRPr sz="1559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754"/>
                </a:spcBef>
                <a:spcAft>
                  <a:spcPts val="0"/>
                </a:spcAft>
                <a:buNone/>
              </a:pPr>
              <a:r>
                <a:rPr i="1" lang="pt-BR" sz="1559">
                  <a:solidFill>
                    <a:srgbClr val="434343"/>
                  </a:solidFill>
                  <a:latin typeface="Calibri"/>
                  <a:ea typeface="Calibri"/>
                  <a:cs typeface="Calibri"/>
                  <a:sym typeface="Calibri"/>
                </a:rPr>
                <a:t>Humble e Priklandnicki (2013).</a:t>
              </a:r>
              <a:endParaRPr i="1" sz="1559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3" name="Google Shape;213;p34"/>
          <p:cNvPicPr preferRelativeResize="0"/>
          <p:nvPr/>
        </p:nvPicPr>
        <p:blipFill rotWithShape="1">
          <a:blip r:embed="rId3">
            <a:alphaModFix/>
          </a:blip>
          <a:srcRect b="0" l="0" r="0" t="4288"/>
          <a:stretch/>
        </p:blipFill>
        <p:spPr>
          <a:xfrm>
            <a:off x="1658700" y="770851"/>
            <a:ext cx="8874600" cy="5473132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34"/>
          <p:cNvSpPr txBox="1"/>
          <p:nvPr/>
        </p:nvSpPr>
        <p:spPr>
          <a:xfrm>
            <a:off x="3009898" y="6243983"/>
            <a:ext cx="6172200" cy="504000"/>
          </a:xfrm>
          <a:prstGeom prst="rect">
            <a:avLst/>
          </a:prstGeom>
          <a:noFill/>
          <a:ln>
            <a:noFill/>
          </a:ln>
        </p:spPr>
        <p:txBody>
          <a:bodyPr anchorCtr="0" anchor="t" bIns="124750" lIns="124750" spcFirstLastPara="1" rIns="124750" wrap="square" tIns="12475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638">
                <a:solidFill>
                  <a:srgbClr val="595959"/>
                </a:solidFill>
              </a:rPr>
              <a:t>Fonte</a:t>
            </a:r>
            <a:r>
              <a:rPr lang="pt-BR" sz="1638">
                <a:solidFill>
                  <a:srgbClr val="595959"/>
                </a:solidFill>
              </a:rPr>
              <a:t>: </a:t>
            </a:r>
            <a:r>
              <a:rPr lang="pt-BR" sz="1638" u="sng">
                <a:solidFill>
                  <a:schemeClr val="hlink"/>
                </a:solidFill>
                <a:hlinkClick r:id="rId4"/>
              </a:rPr>
              <a:t>Elaborado pelo autor</a:t>
            </a:r>
            <a:r>
              <a:rPr lang="pt-BR" sz="1638">
                <a:solidFill>
                  <a:srgbClr val="595959"/>
                </a:solidFill>
              </a:rPr>
              <a:t>.</a:t>
            </a:r>
            <a:endParaRPr sz="1638">
              <a:solidFill>
                <a:srgbClr val="595959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35"/>
          <p:cNvSpPr txBox="1"/>
          <p:nvPr>
            <p:ph idx="1" type="body"/>
          </p:nvPr>
        </p:nvSpPr>
        <p:spPr>
          <a:xfrm>
            <a:off x="459000" y="1982600"/>
            <a:ext cx="11274000" cy="39204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457200" lvl="0" marL="0" rtl="0" algn="just">
              <a:spcBef>
                <a:spcPts val="0"/>
              </a:spcBef>
              <a:spcAft>
                <a:spcPts val="2100"/>
              </a:spcAft>
              <a:buNone/>
            </a:pPr>
            <a:r>
              <a:rPr lang="pt-BR" sz="2800"/>
              <a:t>Analisem e comparem diferentes ferramentas utilizadas em processos de Integração Contínua (CI) e Entrega/Implantação Contínua (CD), identificando suas características, vantagens, limitações e situações em que cada ferramenta pode ser mais adequada. A atividade será baseada no artigo: </a:t>
            </a:r>
            <a:r>
              <a:rPr lang="pt-BR" sz="2800" u="sng">
                <a:solidFill>
                  <a:schemeClr val="hlink"/>
                </a:solidFill>
                <a:hlinkClick r:id="rId3"/>
              </a:rPr>
              <a:t>MANOLOV, Vladislav; GOTSEVA, Daniela; HINOV, Nikolay. Practical Comparison Between the CI/CD Platforms Azure DevOps and GitHub. Future Internet, v. 17, n. 4, 2025, p. 153.</a:t>
            </a:r>
            <a:endParaRPr sz="2800"/>
          </a:p>
        </p:txBody>
      </p:sp>
      <p:sp>
        <p:nvSpPr>
          <p:cNvPr id="221" name="Google Shape;221;p35"/>
          <p:cNvSpPr txBox="1"/>
          <p:nvPr>
            <p:ph type="title"/>
          </p:nvPr>
        </p:nvSpPr>
        <p:spPr>
          <a:xfrm>
            <a:off x="459000" y="976900"/>
            <a:ext cx="11274000" cy="713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Atividade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6"/>
          <p:cNvSpPr txBox="1"/>
          <p:nvPr>
            <p:ph idx="1" type="body"/>
          </p:nvPr>
        </p:nvSpPr>
        <p:spPr>
          <a:xfrm>
            <a:off x="459000" y="1982600"/>
            <a:ext cx="11274000" cy="39204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457200" lvl="0" marL="0" rtl="0" algn="just">
              <a:spcBef>
                <a:spcPts val="0"/>
              </a:spcBef>
              <a:spcAft>
                <a:spcPts val="2100"/>
              </a:spcAft>
              <a:buNone/>
            </a:pPr>
            <a:r>
              <a:rPr lang="pt-BR" sz="3000"/>
              <a:t>Identifiquem todas as ferramentas citadas pelos autores, realizem uma análise comparativa entre as ferramentas ou plataformas relacionadas a CI/CD, investigando suas características, funcionalidades, vantagens, limitações e principais diferenças. Considerem aspectos relevantes para a utilização dessas ferramentas em processos de Integração Contínua, Entrega Contínua.</a:t>
            </a:r>
            <a:endParaRPr sz="3000"/>
          </a:p>
        </p:txBody>
      </p:sp>
      <p:sp>
        <p:nvSpPr>
          <p:cNvPr id="228" name="Google Shape;228;p36"/>
          <p:cNvSpPr txBox="1"/>
          <p:nvPr>
            <p:ph type="title"/>
          </p:nvPr>
        </p:nvSpPr>
        <p:spPr>
          <a:xfrm>
            <a:off x="459000" y="976900"/>
            <a:ext cx="11274000" cy="713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Atividade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7"/>
          <p:cNvSpPr txBox="1"/>
          <p:nvPr>
            <p:ph type="title"/>
          </p:nvPr>
        </p:nvSpPr>
        <p:spPr>
          <a:xfrm>
            <a:off x="459000" y="976900"/>
            <a:ext cx="11274000" cy="713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Referências</a:t>
            </a:r>
            <a:endParaRPr/>
          </a:p>
        </p:txBody>
      </p:sp>
      <p:sp>
        <p:nvSpPr>
          <p:cNvPr id="235" name="Google Shape;235;p37"/>
          <p:cNvSpPr txBox="1"/>
          <p:nvPr>
            <p:ph idx="1" type="body"/>
          </p:nvPr>
        </p:nvSpPr>
        <p:spPr>
          <a:xfrm>
            <a:off x="459000" y="1982600"/>
            <a:ext cx="11274000" cy="39204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-35814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40"/>
              <a:buChar char="●"/>
            </a:pPr>
            <a:r>
              <a:rPr lang="pt-BR" sz="2040"/>
              <a:t>HUMBLE J; PRIKLANDNICKI R. Entrega Contínua: Como Entregar Software de Forma Rápida e Confiável. São Paulo: Bookman, 2013 </a:t>
            </a:r>
            <a:endParaRPr sz="2040"/>
          </a:p>
          <a:p>
            <a:pPr indent="-35814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40"/>
              <a:buChar char="●"/>
            </a:pPr>
            <a:r>
              <a:rPr lang="pt-BR" sz="2040"/>
              <a:t>MUNIZ, A.; et al. Jornada Devops: Unindo Cultura Ágil, Lean e Tecnologia Para Entrega De Software Com Qualidade. São Paulo: Brasport, 2019. </a:t>
            </a:r>
            <a:endParaRPr sz="2040"/>
          </a:p>
          <a:p>
            <a:pPr indent="-35814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40"/>
              <a:buChar char="●"/>
            </a:pPr>
            <a:r>
              <a:rPr lang="pt-BR" sz="2040"/>
              <a:t>SATO D. DevOps na prática: entrega de software confiável e automatizada. São Paulo: Casa do Código, 2014. </a:t>
            </a:r>
            <a:endParaRPr sz="2040"/>
          </a:p>
          <a:p>
            <a:pPr indent="-35814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40"/>
              <a:buChar char="●"/>
            </a:pPr>
            <a:r>
              <a:rPr lang="pt-BR" sz="2040"/>
              <a:t>SILVA, R. Entrega contínua em Android: Como automatizar a distribuição de apps. São Paulo: Casa do Código, 2016.</a:t>
            </a:r>
            <a:endParaRPr sz="2040"/>
          </a:p>
          <a:p>
            <a:pPr indent="-35814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40"/>
              <a:buChar char="●"/>
            </a:pPr>
            <a:r>
              <a:rPr lang="pt-BR" sz="2040"/>
              <a:t>ARUNDEL, J. DOMINGUS, J. DevOps nativo de nuvem com Kubernetes. São Paulo: Novatec, 2019.</a:t>
            </a:r>
            <a:endParaRPr sz="204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38"/>
          <p:cNvSpPr txBox="1"/>
          <p:nvPr>
            <p:ph type="title"/>
          </p:nvPr>
        </p:nvSpPr>
        <p:spPr>
          <a:xfrm>
            <a:off x="459000" y="976900"/>
            <a:ext cx="11274000" cy="713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Referências</a:t>
            </a:r>
            <a:endParaRPr/>
          </a:p>
        </p:txBody>
      </p:sp>
      <p:sp>
        <p:nvSpPr>
          <p:cNvPr id="242" name="Google Shape;242;p38"/>
          <p:cNvSpPr txBox="1"/>
          <p:nvPr>
            <p:ph idx="1" type="body"/>
          </p:nvPr>
        </p:nvSpPr>
        <p:spPr>
          <a:xfrm>
            <a:off x="459000" y="1982600"/>
            <a:ext cx="11274000" cy="39204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-35814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40"/>
              <a:buChar char="●"/>
            </a:pPr>
            <a:r>
              <a:rPr lang="pt-BR" sz="2040"/>
              <a:t>MORAES, G. Caixa de Ferramentas DevOps: Um guia para construção, administração e arquitetura de sistemas modernos. São Paulo: Casa do Código, 2015. </a:t>
            </a:r>
            <a:endParaRPr sz="2040"/>
          </a:p>
          <a:p>
            <a:pPr indent="-35814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40"/>
              <a:buChar char="●"/>
            </a:pPr>
            <a:r>
              <a:rPr lang="pt-BR" sz="2040"/>
              <a:t>PIRES, A.; MILITÃO, J. Integração Contínua com Jenkins. São Paulo: Casa do Código, 2019. </a:t>
            </a:r>
            <a:endParaRPr sz="2040"/>
          </a:p>
          <a:p>
            <a:pPr indent="-35814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40"/>
              <a:buChar char="●"/>
            </a:pPr>
            <a:r>
              <a:rPr lang="pt-BR" sz="2040"/>
              <a:t>VITALINO, J. F. N.; CASTRO, M. A. N. Descomplicando o Docker. 2 ed. São Paulo: Brasport, 2018. SILVERMAN, R. E. Git: guia prático. São Paulo: Novatec, 2019.</a:t>
            </a:r>
            <a:endParaRPr sz="2040"/>
          </a:p>
          <a:p>
            <a:pPr indent="-35814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40"/>
              <a:buChar char="●"/>
            </a:pPr>
            <a:r>
              <a:rPr lang="pt-BR" sz="2040"/>
              <a:t>KIM, G; HUMBLE, J; DEBOIS, P; WILLIS, J; Manual de DEVOPS: Como obter agilidade, confiabilidade e segurança em organizações tecnológicas. São Paulo: Starlin Alta Editora, 2018.</a:t>
            </a:r>
            <a:endParaRPr sz="2040"/>
          </a:p>
          <a:p>
            <a:pPr indent="0" lvl="0" marL="0" rtl="0" algn="just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None/>
            </a:pPr>
            <a:r>
              <a:t/>
            </a:r>
            <a:endParaRPr sz="204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39"/>
          <p:cNvSpPr txBox="1"/>
          <p:nvPr>
            <p:ph type="ctrTitle"/>
          </p:nvPr>
        </p:nvSpPr>
        <p:spPr>
          <a:xfrm>
            <a:off x="970600" y="2581950"/>
            <a:ext cx="10250700" cy="17283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rgbClr val="202529"/>
                </a:solidFill>
              </a:rPr>
              <a:t>Ferramentas de Integração e Entrega Contínua</a:t>
            </a:r>
            <a:endParaRPr>
              <a:solidFill>
                <a:srgbClr val="202529"/>
              </a:solidFill>
            </a:endParaRPr>
          </a:p>
        </p:txBody>
      </p:sp>
      <p:sp>
        <p:nvSpPr>
          <p:cNvPr id="249" name="Google Shape;249;p39"/>
          <p:cNvSpPr txBox="1"/>
          <p:nvPr>
            <p:ph idx="1" type="subTitle"/>
          </p:nvPr>
        </p:nvSpPr>
        <p:spPr>
          <a:xfrm>
            <a:off x="599400" y="5165567"/>
            <a:ext cx="10993200" cy="11676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/>
              <a:t>Prof. Me. Deivison S. Takatu</a:t>
            </a:r>
            <a:endParaRPr b="1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deivison.takatu@fatec.sp.gov.br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Banded_Design_Teal">
      <a:dk1>
        <a:srgbClr val="363D3D"/>
      </a:dk1>
      <a:lt1>
        <a:srgbClr val="FFFFFF"/>
      </a:lt1>
      <a:dk2>
        <a:srgbClr val="000000"/>
      </a:dk2>
      <a:lt2>
        <a:srgbClr val="E5E8E8"/>
      </a:lt2>
      <a:accent1>
        <a:srgbClr val="3AAFB2"/>
      </a:accent1>
      <a:accent2>
        <a:srgbClr val="6ABD45"/>
      </a:accent2>
      <a:accent3>
        <a:srgbClr val="EBCA21"/>
      </a:accent3>
      <a:accent4>
        <a:srgbClr val="EB8D21"/>
      </a:accent4>
      <a:accent5>
        <a:srgbClr val="EB5638"/>
      </a:accent5>
      <a:accent6>
        <a:srgbClr val="5172B1"/>
      </a:accent6>
      <a:hlink>
        <a:srgbClr val="3A9CDB"/>
      </a:hlink>
      <a:folHlink>
        <a:srgbClr val="5172B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