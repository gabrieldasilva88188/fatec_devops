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  <p:embeddedFont>
      <p:font typeface="Corbel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37" Type="http://schemas.openxmlformats.org/officeDocument/2006/relationships/font" Target="fonts/Corbel-regular.fntdata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39" Type="http://schemas.openxmlformats.org/officeDocument/2006/relationships/font" Target="fonts/Corbel-italic.fntdata"/><Relationship Id="rId16" Type="http://schemas.openxmlformats.org/officeDocument/2006/relationships/slide" Target="slides/slide11.xml"/><Relationship Id="rId38" Type="http://schemas.openxmlformats.org/officeDocument/2006/relationships/font" Target="fonts/Corbel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88d04ed4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88d04ed45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f88d04ed4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88d04ed4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88d04ed45_0_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f88d04ed45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8d04ed4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8d04ed45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88d04ed45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8d04ed45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8d04ed45_0_6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88d04ed45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8d04ed45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8d04ed45_0_7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88d04ed45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8d04ed45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8d04ed45_0_7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88d04ed45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8d04ed45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88d04ed45_0_8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88d04ed45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8d04ed45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88d04ed45_0_8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88d04ed45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88d04ed45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88d04ed45_0_10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88d04ed45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49ea8306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849ea8306_0_2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849ea8306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88d04ed45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88d04ed45_0_9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88d04ed45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50164cc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850164cc3_0_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850164cc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88d04ed45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88d04ed45_0_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88d04ed45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ea76ad9e_0_9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6ea76ad9e_0_9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6ea76ad9e_0_9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6ea76ad9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6ea76ad9e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6ea76ad9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deivisontakatu/projeto-pipelines-devop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marketplace?type=action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Pipeline de Integração Contínua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Introdução às Pipelines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Build e Testes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Qualidade e Segurança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Artefatos (Package) e Deploy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Release e Monitoramento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GitHub Actions 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Pipeline: Sequência de validações automatizadas executadas durante o ciclo de entrega do software.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Build uma única vez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O mesmo artefato é promovido entre ambientes</a:t>
            </a:r>
            <a:endParaRPr sz="20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Mesmo deploy em todos os ambientes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Desenvolvimento → Homologação → Produção</a:t>
            </a:r>
            <a:endParaRPr sz="20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Falhou? Para tudo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Nenhuma etapa continua após erro</a:t>
            </a:r>
            <a:endParaRPr sz="2800"/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de pipeline</a:t>
            </a:r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7444550" y="3429000"/>
            <a:ext cx="4179900" cy="2651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Um desenvolvedor altera a tela de login de um sistema e envia o código para o GitHub. A partir disso, o pipeline inicia automaticamente: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O sistema baixa o código atualizado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Compila a aplicação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Executa testes automáticos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Verifica a qualidade do código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Gera uma nova versão da aplicação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Pública em ambiente de homologação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O pipeline de build é a etapa responsável por preparar automaticamente o software para execução ou distribuição.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O objetivo é garantir que o sistema consiga ser construído corretamente antes das próximas etapas do pipeline.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Principais funções</a:t>
            </a:r>
            <a:endParaRPr sz="25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Compilação automatizada do projeto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Geração de artefatos de software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arquivos .jar, .war, .apk, containers Docker etc.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Verificação inicial da integridade do código</a:t>
            </a:r>
            <a:endParaRPr sz="2500"/>
          </a:p>
        </p:txBody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build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O pipeline de testes executa automaticamente validações no sistema após o processo de build.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O objetivo é garantir que novas alterações não quebrem funcionalidades existentes do sistema.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Principais funções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Execução automática de testes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Validação contínua da aplicação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Identificação rápida de falhas</a:t>
            </a:r>
            <a:endParaRPr sz="2000"/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testes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pipeline de qualidade realiza verificações automatizadas para avaliar se o código atende aos padrões definidos antes de avançar para as próximas etapas.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objetivo é identificar problemas de qualidade, inconsistências e possíveis falhas no código de forma antecipada.</a:t>
            </a:r>
            <a:endParaRPr/>
          </a:p>
        </p:txBody>
      </p:sp>
      <p:sp>
        <p:nvSpPr>
          <p:cNvPr id="87" name="Google Shape;87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qualidade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O pipeline de segurança realiza verificações automatizadas para identificar vulnerabilidades e riscos no software durante o processo de desenvolvimento.</a:t>
            </a:r>
            <a:endParaRPr sz="2700"/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Principais funções</a:t>
            </a:r>
            <a:endParaRPr sz="27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Análise de vulnerabilidades no código</a:t>
            </a:r>
            <a:endParaRPr sz="19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Verificação de dependências utilizadas</a:t>
            </a:r>
            <a:endParaRPr sz="19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Identificação de configurações inseguras</a:t>
            </a:r>
            <a:endParaRPr sz="19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Detecção de informações sensíveis expostas</a:t>
            </a:r>
            <a:endParaRPr sz="1900"/>
          </a:p>
        </p:txBody>
      </p:sp>
      <p:sp>
        <p:nvSpPr>
          <p:cNvPr id="94" name="Google Shape;94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segurança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pipeline de artefatos é responsável por empacotar e armazenar os resultados gerados durante o processo de build.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Principais funções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Empacotamento da aplicação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Geração de arquivos de distribuição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Versionamento dos artefatos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Armazenamento em repositórios de artefatos</a:t>
            </a:r>
            <a:endParaRPr/>
          </a:p>
        </p:txBody>
      </p:sp>
      <p:sp>
        <p:nvSpPr>
          <p:cNvPr id="101" name="Google Shape;101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Artefatos (Package)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3000"/>
              <a:t>O pipeline de deploy é responsável por publicar automaticamente o software em um ambiente de execução após as etapas de validação.</a:t>
            </a:r>
            <a:endParaRPr sz="3000"/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3000"/>
              <a:t>Principais funções</a:t>
            </a:r>
            <a:endParaRPr sz="30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Preparação do ambiente de destino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Publicação do artefato gerado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Configuração de variáveis e parâmetros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Execução do deploy automatizado</a:t>
            </a:r>
            <a:endParaRPr sz="2200"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Deploy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O pipeline de release é responsável por preparar e disponibilizar uma versão específica do software para os usuários ou para um ambiente de produção.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Principais funções</a:t>
            </a:r>
            <a:endParaRPr sz="29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Criação e identificação de versões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Publicação de releases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Controle das versões disponibilizadas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Monitoramento da aplicação em produção</a:t>
            </a:r>
            <a:endParaRPr sz="2100"/>
          </a:p>
        </p:txBody>
      </p:sp>
      <p:sp>
        <p:nvSpPr>
          <p:cNvPr id="115" name="Google Shape;115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</a:t>
            </a:r>
            <a:r>
              <a:rPr lang="pt-BR"/>
              <a:t>Release e Monitoramento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Projeto prático utilizando GitHub Actions para automatizar uma pipeline de CI/CD.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Cada etapa é executada automaticamente e uma falha interrompe o fluxo. 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Link: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github.com/deivisontakatu/projeto-pipelines-devops</a:t>
            </a:r>
            <a:endParaRPr/>
          </a:p>
          <a:p>
            <a:pPr indent="0" lvl="0" marL="45720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Projeto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/>
              <a:t>É uma plataforma de automação integrada ao GitHub, permitindo criar e executar fluxos de trabalho diretamente associados aos repositórios de código.</a:t>
            </a:r>
            <a:endParaRPr sz="31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3100"/>
              <a:t>Os workflows podem ser configurados de acordo com eventos do repositório, como push, pull request, criação de tags ou releases.</a:t>
            </a:r>
            <a:endParaRPr sz="3100"/>
          </a:p>
        </p:txBody>
      </p:sp>
      <p:sp>
        <p:nvSpPr>
          <p:cNvPr id="129" name="Google Shape;129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Actions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É o catálogo de Actions, ferramentas e extensões que podem ser utilizadas nos workflows do GitHub Actions.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Permite encontrar soluções prontas para build, testes, qualidade, segurança, deploy, cache e outras etapas da pipeline.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As Actions podem ser desenvolvidas pelo GitHub, parceiros ou pela comunidade.</a:t>
            </a:r>
            <a:endParaRPr sz="2800"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 sz="2800"/>
              <a:t>GitHub Marketplace: </a:t>
            </a:r>
            <a:r>
              <a:rPr lang="pt-BR" sz="2700" u="sng">
                <a:solidFill>
                  <a:schemeClr val="hlink"/>
                </a:solidFill>
                <a:hlinkClick r:id="rId3"/>
              </a:rPr>
              <a:t>github.com/marketplace?type=actions</a:t>
            </a:r>
            <a:endParaRPr sz="2700"/>
          </a:p>
        </p:txBody>
      </p:sp>
      <p:sp>
        <p:nvSpPr>
          <p:cNvPr id="136" name="Google Shape;136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Actions Marktplace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Entregas de Software e Automação</a:t>
            </a:r>
            <a:endParaRPr/>
          </a:p>
        </p:txBody>
      </p:sp>
      <p:grpSp>
        <p:nvGrpSpPr>
          <p:cNvPr id="143" name="Google Shape;143;p20"/>
          <p:cNvGrpSpPr/>
          <p:nvPr/>
        </p:nvGrpSpPr>
        <p:grpSpPr>
          <a:xfrm>
            <a:off x="830164" y="1836992"/>
            <a:ext cx="5146498" cy="1795413"/>
            <a:chOff x="4667250" y="952500"/>
            <a:chExt cx="4095900" cy="1428900"/>
          </a:xfrm>
        </p:grpSpPr>
        <p:sp>
          <p:nvSpPr>
            <p:cNvPr id="144" name="Google Shape;144;p20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0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62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DevOps</a:t>
              </a:r>
              <a:endParaRPr b="1" sz="2062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574465" lvl="0" marL="0" rtl="0" algn="just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Integra desenvolvimento, testes e operações por meio da automação, acelerando entregas de software com maior qualidade, estabilidade e redução de falhas.</a:t>
              </a:r>
              <a:endParaRPr i="1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20"/>
          <p:cNvGrpSpPr/>
          <p:nvPr/>
        </p:nvGrpSpPr>
        <p:grpSpPr>
          <a:xfrm>
            <a:off x="829918" y="4001987"/>
            <a:ext cx="10532171" cy="2154269"/>
            <a:chOff x="381000" y="2571750"/>
            <a:chExt cx="8382150" cy="1714500"/>
          </a:xfrm>
        </p:grpSpPr>
        <p:sp>
          <p:nvSpPr>
            <p:cNvPr id="147" name="Google Shape;147;p20"/>
            <p:cNvSpPr/>
            <p:nvPr/>
          </p:nvSpPr>
          <p:spPr>
            <a:xfrm>
              <a:off x="381000" y="2571750"/>
              <a:ext cx="8382000" cy="1714500"/>
            </a:xfrm>
            <a:prstGeom prst="roundRect">
              <a:avLst>
                <a:gd fmla="val 5555" name="adj"/>
              </a:avLst>
            </a:prstGeom>
            <a:solidFill>
              <a:srgbClr val="2025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0"/>
            <p:cNvSpPr txBox="1"/>
            <p:nvPr/>
          </p:nvSpPr>
          <p:spPr>
            <a:xfrm>
              <a:off x="762000" y="2762245"/>
              <a:ext cx="4095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262">
                  <a:solidFill>
                    <a:srgbClr val="F3F3F3"/>
                  </a:solidFill>
                </a:rPr>
                <a:t>O Papel das Pipelines</a:t>
              </a:r>
              <a:endParaRPr b="1" sz="2262">
                <a:solidFill>
                  <a:srgbClr val="F3F3F3"/>
                </a:solidFill>
              </a:endParaRPr>
            </a:p>
            <a:p>
              <a:pPr indent="574465" lvl="0" marL="0" rtl="0" algn="just">
                <a:spcBef>
                  <a:spcPts val="942"/>
                </a:spcBef>
                <a:spcAft>
                  <a:spcPts val="0"/>
                </a:spcAft>
                <a:buNone/>
              </a:pPr>
              <a:r>
                <a:rPr lang="pt-BR" sz="1508">
                  <a:solidFill>
                    <a:srgbClr val="F3F3F3"/>
                  </a:solidFill>
                </a:rPr>
                <a:t>As pipelines de CI tornaram-se fundamentais no desenvolvimento moderno, automatizando validações e garantindo qualidade contínua durante todo o ciclo de entrega.</a:t>
              </a:r>
              <a:endParaRPr sz="1508">
                <a:solidFill>
                  <a:srgbClr val="F3F3F3"/>
                </a:solidFill>
              </a:endParaRPr>
            </a:p>
          </p:txBody>
        </p:sp>
        <p:pic>
          <p:nvPicPr>
            <p:cNvPr descr="A high-tech digital visualization of a software delivery pipeline with glowing nodes and connecting lines, professional corporate style, dark theme." id="149" name="Google Shape;149;p20"/>
            <p:cNvPicPr preferRelativeResize="0"/>
            <p:nvPr/>
          </p:nvPicPr>
          <p:blipFill rotWithShape="1">
            <a:blip r:embed="rId3">
              <a:alphaModFix/>
            </a:blip>
            <a:srcRect b="4288" l="0" r="0" t="4288"/>
            <a:stretch/>
          </p:blipFill>
          <p:spPr>
            <a:xfrm>
              <a:off x="5429250" y="2571750"/>
              <a:ext cx="3333900" cy="1714500"/>
            </a:xfrm>
            <a:prstGeom prst="roundRect">
              <a:avLst>
                <a:gd fmla="val 5555" name="adj"/>
              </a:avLst>
            </a:prstGeom>
            <a:noFill/>
            <a:ln>
              <a:noFill/>
            </a:ln>
          </p:spPr>
        </p:pic>
      </p:grpSp>
      <p:sp>
        <p:nvSpPr>
          <p:cNvPr id="150" name="Google Shape;150;p20"/>
          <p:cNvSpPr txBox="1"/>
          <p:nvPr/>
        </p:nvSpPr>
        <p:spPr>
          <a:xfrm>
            <a:off x="830007" y="6156181"/>
            <a:ext cx="105318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“Pipelines promovem qualidade contínua ao longo de todo o processo de entrega” SATO (2014).</a:t>
            </a:r>
            <a:endParaRPr i="1" sz="1559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20"/>
          <p:cNvGrpSpPr/>
          <p:nvPr/>
        </p:nvGrpSpPr>
        <p:grpSpPr>
          <a:xfrm>
            <a:off x="6215591" y="1837008"/>
            <a:ext cx="5146498" cy="1795413"/>
            <a:chOff x="4667250" y="952500"/>
            <a:chExt cx="4095900" cy="1428900"/>
          </a:xfrm>
        </p:grpSpPr>
        <p:sp>
          <p:nvSpPr>
            <p:cNvPr id="152" name="Google Shape;152;p20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62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Definição de Pipeline</a:t>
              </a:r>
              <a:endParaRPr b="1" sz="2062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574465" lvl="0" marL="0" rtl="0" algn="just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Sequência automatizada de estágios responsável por conduzir o software desde o commit até o deploy de forma confiável.</a:t>
              </a:r>
              <a:endParaRPr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i="1"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Humble e Priklandnicki (2013).</a:t>
              </a:r>
              <a:endParaRPr i="1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Entregas de Software e Automação</a:t>
            </a:r>
            <a:endParaRPr/>
          </a:p>
        </p:txBody>
      </p:sp>
      <p:grpSp>
        <p:nvGrpSpPr>
          <p:cNvPr id="160" name="Google Shape;160;p21"/>
          <p:cNvGrpSpPr/>
          <p:nvPr/>
        </p:nvGrpSpPr>
        <p:grpSpPr>
          <a:xfrm>
            <a:off x="380899" y="2271772"/>
            <a:ext cx="5508986" cy="2837383"/>
            <a:chOff x="381000" y="2095500"/>
            <a:chExt cx="4095900" cy="2286000"/>
          </a:xfrm>
        </p:grpSpPr>
        <p:sp>
          <p:nvSpPr>
            <p:cNvPr id="161" name="Google Shape;161;p21"/>
            <p:cNvSpPr/>
            <p:nvPr/>
          </p:nvSpPr>
          <p:spPr>
            <a:xfrm>
              <a:off x="381000" y="2095500"/>
              <a:ext cx="40959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28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83">
                <a:solidFill>
                  <a:srgbClr val="434343"/>
                </a:solidFill>
              </a:endParaRPr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571500" y="22860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21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Gatilhos (Workflows)</a:t>
              </a:r>
              <a:endParaRPr b="1" sz="242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1"/>
            <p:cNvSpPr txBox="1"/>
            <p:nvPr/>
          </p:nvSpPr>
          <p:spPr>
            <a:xfrm>
              <a:off x="571500" y="2714625"/>
              <a:ext cx="3714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Iniciam automaticamente em ações como: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807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Push de código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605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Pull Requests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605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Criação de Releases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605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Publicação de Tags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21"/>
          <p:cNvGrpSpPr/>
          <p:nvPr/>
        </p:nvGrpSpPr>
        <p:grpSpPr>
          <a:xfrm>
            <a:off x="6145906" y="2271772"/>
            <a:ext cx="5508986" cy="2837383"/>
            <a:chOff x="4667250" y="2095500"/>
            <a:chExt cx="4095900" cy="2286000"/>
          </a:xfrm>
        </p:grpSpPr>
        <p:sp>
          <p:nvSpPr>
            <p:cNvPr id="165" name="Google Shape;165;p21"/>
            <p:cNvSpPr/>
            <p:nvPr/>
          </p:nvSpPr>
          <p:spPr>
            <a:xfrm>
              <a:off x="4667250" y="2095500"/>
              <a:ext cx="4095900" cy="2286000"/>
            </a:xfrm>
            <a:prstGeom prst="roundRect">
              <a:avLst>
                <a:gd fmla="val 5000" name="adj"/>
              </a:avLst>
            </a:prstGeom>
            <a:solidFill>
              <a:srgbClr val="0D1117"/>
            </a:solidFill>
            <a:ln cap="flat" cmpd="sng" w="128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4857750" y="2286000"/>
              <a:ext cx="3714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7D859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É uma ferramenta nativa do GitHub que permite automatizar processos de integração contínua, testes e deploy de aplicações.</a:t>
              </a:r>
              <a:endParaRPr sz="1749">
                <a:solidFill>
                  <a:srgbClr val="7D859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4"/>
                </a:spcBef>
                <a:spcAft>
                  <a:spcPts val="0"/>
                </a:spcAft>
                <a:buNone/>
              </a:pPr>
              <a:r>
                <a:t/>
              </a:r>
              <a:endParaRPr sz="1480">
                <a:solidFill>
                  <a:srgbClr val="7D859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4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on:</a:t>
              </a:r>
              <a:r>
                <a:rPr lang="pt-BR" sz="1749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[push]</a:t>
              </a:r>
              <a:endParaRPr sz="1749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jobs:</a:t>
              </a:r>
              <a:endParaRPr sz="1749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5623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build:</a:t>
              </a:r>
              <a:endParaRPr sz="1749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512459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runs-on:</a:t>
              </a:r>
              <a:r>
                <a:rPr lang="pt-BR" sz="1749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pt-BR" sz="1749">
                  <a:solidFill>
                    <a:srgbClr val="A5D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ubuntu-latest</a:t>
              </a:r>
              <a:endParaRPr sz="1749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67" name="Google Shape;167;p21"/>
          <p:cNvGrpSpPr/>
          <p:nvPr/>
        </p:nvGrpSpPr>
        <p:grpSpPr>
          <a:xfrm>
            <a:off x="381000" y="5301427"/>
            <a:ext cx="11273790" cy="512445"/>
            <a:chOff x="381000" y="4524375"/>
            <a:chExt cx="8382000" cy="381000"/>
          </a:xfrm>
        </p:grpSpPr>
        <p:sp>
          <p:nvSpPr>
            <p:cNvPr id="168" name="Google Shape;168;p21"/>
            <p:cNvSpPr/>
            <p:nvPr/>
          </p:nvSpPr>
          <p:spPr>
            <a:xfrm>
              <a:off x="381000" y="4524375"/>
              <a:ext cx="8382000" cy="381000"/>
            </a:xfrm>
            <a:prstGeom prst="roundRect">
              <a:avLst>
                <a:gd fmla="val 20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83">
                <a:solidFill>
                  <a:srgbClr val="434343"/>
                </a:solidFill>
              </a:endParaRPr>
            </a:p>
          </p:txBody>
        </p:sp>
        <p:sp>
          <p:nvSpPr>
            <p:cNvPr id="169" name="Google Shape;169;p21"/>
            <p:cNvSpPr txBox="1"/>
            <p:nvPr/>
          </p:nvSpPr>
          <p:spPr>
            <a:xfrm>
              <a:off x="381000" y="4524375"/>
              <a:ext cx="8382000" cy="381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749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Exemplo: </a:t>
              </a:r>
              <a:r>
                <a:rPr lang="pt-BR" sz="1749">
                  <a:solidFill>
                    <a:srgbClr val="434343"/>
                  </a:solidFill>
                </a:rPr>
                <a:t>Execução da pipeline DevOps com GitHub Actions.</a:t>
              </a:r>
              <a:endParaRPr sz="1749">
                <a:solidFill>
                  <a:srgbClr val="434343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2800"/>
              <a:t>Escolham 3 Actions disponíveis no GitHub Marketplace e desenvolvam um projeto que utilize essas ferramentas em uma pipeline automatizada, aplicando cada Action em uma etapa adequada do processo. Configurem o workflow no GitHub Actions, executem a pipeline e verifiquem o funcionamento de cada etapa, documentando no projeto quais Actions foram utilizadas, suas respectivas funções e como contribuíram para a automação do processo.</a:t>
            </a:r>
            <a:endParaRPr sz="2800"/>
          </a:p>
        </p:txBody>
      </p:sp>
      <p:sp>
        <p:nvSpPr>
          <p:cNvPr id="176" name="Google Shape;176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Pipeline de Integração Contínua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197" name="Google Shape;197;p2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