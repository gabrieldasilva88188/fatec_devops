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6858000" cx="12192000"/>
  <p:notesSz cx="6858000" cy="9144000"/>
  <p:embeddedFontLst>
    <p:embeddedFont>
      <p:font typeface="Raleway"/>
      <p:regular r:id="rId34"/>
      <p:bold r:id="rId35"/>
      <p:italic r:id="rId36"/>
      <p:boldItalic r:id="rId37"/>
    </p:embeddedFont>
    <p:embeddedFont>
      <p:font typeface="Roboto"/>
      <p:regular r:id="rId38"/>
      <p:bold r:id="rId39"/>
      <p:italic r:id="rId40"/>
      <p:boldItalic r:id="rId41"/>
    </p:embeddedFont>
    <p:embeddedFont>
      <p:font typeface="Lato"/>
      <p:regular r:id="rId42"/>
      <p:bold r:id="rId43"/>
      <p:italic r:id="rId44"/>
      <p:boldItalic r:id="rId45"/>
    </p:embeddedFont>
    <p:embeddedFont>
      <p:font typeface="Corbel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A4A3A4"/>
          </p15:clr>
        </p15:guide>
        <p15:guide id="2" pos="6816">
          <p15:clr>
            <a:srgbClr val="A4A3A4"/>
          </p15:clr>
        </p15:guide>
        <p15:guide id="3" pos="816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6816"/>
        <p:guide pos="816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italic.fntdata"/><Relationship Id="rId42" Type="http://schemas.openxmlformats.org/officeDocument/2006/relationships/font" Target="fonts/Lato-regular.fntdata"/><Relationship Id="rId41" Type="http://schemas.openxmlformats.org/officeDocument/2006/relationships/font" Target="fonts/Roboto-boldItalic.fntdata"/><Relationship Id="rId44" Type="http://schemas.openxmlformats.org/officeDocument/2006/relationships/font" Target="fonts/Lato-italic.fntdata"/><Relationship Id="rId43" Type="http://schemas.openxmlformats.org/officeDocument/2006/relationships/font" Target="fonts/Lato-bold.fntdata"/><Relationship Id="rId46" Type="http://schemas.openxmlformats.org/officeDocument/2006/relationships/font" Target="fonts/Corbel-regular.fntdata"/><Relationship Id="rId45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Corbel-italic.fntdata"/><Relationship Id="rId47" Type="http://schemas.openxmlformats.org/officeDocument/2006/relationships/font" Target="fonts/Corbel-bold.fntdata"/><Relationship Id="rId49" Type="http://schemas.openxmlformats.org/officeDocument/2006/relationships/font" Target="fonts/Corbel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font" Target="fonts/Raleway-bold.fntdata"/><Relationship Id="rId34" Type="http://schemas.openxmlformats.org/officeDocument/2006/relationships/font" Target="fonts/Raleway-regular.fntdata"/><Relationship Id="rId37" Type="http://schemas.openxmlformats.org/officeDocument/2006/relationships/font" Target="fonts/Raleway-boldItalic.fntdata"/><Relationship Id="rId36" Type="http://schemas.openxmlformats.org/officeDocument/2006/relationships/font" Target="fonts/Raleway-italic.fntdata"/><Relationship Id="rId39" Type="http://schemas.openxmlformats.org/officeDocument/2006/relationships/font" Target="fonts/Roboto-bold.fntdata"/><Relationship Id="rId38" Type="http://schemas.openxmlformats.org/officeDocument/2006/relationships/font" Target="fonts/Roboto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c35b607eaf_0_2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3c35b607eaf_0_27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g3c35b607eaf_0_2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c35701d7d6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c35701d7d6_0_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c35701d7d6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h1feb167b53eb316a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h1feb167b53eb316a_1_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h1feb167b53eb316a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h1feb167b53eb316a_1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h1feb167b53eb316a_1_4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h1feb167b53eb316a_1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h1feb167b53eb316a_1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h1feb167b53eb316a_1_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h1feb167b53eb316a_1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1feb167b53eb316a_1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1feb167b53eb316a_1_1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h1feb167b53eb316a_1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h1feb167b53eb316a_1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h1feb167b53eb316a_1_10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h1feb167b53eb316a_1_1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h1feb167b53eb316a_1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h1feb167b53eb316a_1_5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h1feb167b53eb316a_1_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1feb167b53eb316a_1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h1feb167b53eb316a_1_6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h1feb167b53eb316a_1_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h1feb167b53eb316a_1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h1feb167b53eb316a_1_1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h1feb167b53eb316a_1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1feb167b53eb316a_1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1feb167b53eb316a_1_7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h1feb167b53eb316a_1_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1feb167b53eb316a_1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1feb167b53eb316a_1_2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h1feb167b53eb316a_1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41e3d4ca6c0964e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h41e3d4ca6c0964ee_0_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h41e3d4ca6c0964e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h41e3d4ca6c0964ee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h41e3d4ca6c0964ee_0_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h41e3d4ca6c0964ee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h41e3d4ca6c0964ee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h41e3d4ca6c0964ee_0_1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h41e3d4ca6c0964ee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41e3d4ca6c0964ee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h41e3d4ca6c0964ee_0_2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h41e3d4ca6c0964ee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h41e3d4ca6c0964ee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h41e3d4ca6c0964ee_0_3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h41e3d4ca6c0964ee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h41e3d4ca6c0964ee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h41e3d4ca6c0964ee_0_3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h41e3d4ca6c0964ee_0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h1feb167b53eb316a_1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h1feb167b53eb316a_1_3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h1feb167b53eb316a_1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h1feb167b53eb316a_1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h1feb167b53eb316a_1_7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h1feb167b53eb316a_1_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h1feb167b53eb316a_1_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h1feb167b53eb316a_1_8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h1feb167b53eb316a_1_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h1feb167b53eb316a_1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h1feb167b53eb316a_1_4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h1feb167b53eb316a_1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h41e3d4ca6c0964ee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h41e3d4ca6c0964ee_0_4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h41e3d4ca6c0964ee_0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6ea76ad9e_0_9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f6ea76ad9e_0_92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f6ea76ad9e_0_9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h41e3d4ca6c0964ee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h41e3d4ca6c0964ee_0_5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h41e3d4ca6c0964ee_0_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c35701d7d6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c35701d7d6_0_8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c35701d7d6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661a119ed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f661a119ed_0_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f661a119ed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8d051dfec_0_4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f8d051dfec_0_40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f8d051dfec_0_4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7" name="Google Shape;17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" name="Google Shape;19;p2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42526"/>
              </a:buClr>
              <a:buSzPts val="5300"/>
              <a:buFont typeface="Roboto"/>
              <a:buNone/>
              <a:defRPr sz="5300">
                <a:solidFill>
                  <a:srgbClr val="B4252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0303"/>
              </a:buClr>
              <a:buSzPts val="2900"/>
              <a:buFont typeface="Roboto"/>
              <a:buNone/>
              <a:defRPr sz="2900">
                <a:solidFill>
                  <a:srgbClr val="B0030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1107200" y="1405133"/>
            <a:ext cx="994500" cy="32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FFFFF"/>
              </a:solidFill>
            </a:endParaRPr>
          </a:p>
        </p:txBody>
      </p:sp>
      <p:pic>
        <p:nvPicPr>
          <p:cNvPr id="23" name="Google Shape;23;p2"/>
          <p:cNvPicPr preferRelativeResize="0"/>
          <p:nvPr/>
        </p:nvPicPr>
        <p:blipFill rotWithShape="1">
          <a:blip r:embed="rId2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551384" y="116632"/>
            <a:ext cx="11089200" cy="12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551384" y="1556792"/>
            <a:ext cx="11089200" cy="4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3200"/>
              <a:buChar char="●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○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■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●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○"/>
              <a:defRPr sz="3200"/>
            </a:lvl5pPr>
            <a:lvl6pPr indent="-4318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■"/>
              <a:defRPr sz="3200"/>
            </a:lvl6pPr>
            <a:lvl7pPr indent="-4318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●"/>
              <a:defRPr sz="3200"/>
            </a:lvl7pPr>
            <a:lvl8pPr indent="-4318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○"/>
              <a:defRPr sz="3200"/>
            </a:lvl8pPr>
            <a:lvl9pPr indent="-431800" lvl="8" marL="4114800" algn="l">
              <a:lnSpc>
                <a:spcPct val="90000"/>
              </a:lnSpc>
              <a:spcBef>
                <a:spcPts val="2100"/>
              </a:spcBef>
              <a:spcAft>
                <a:spcPts val="2100"/>
              </a:spcAft>
              <a:buClr>
                <a:srgbClr val="272F6D"/>
              </a:buClr>
              <a:buSzPts val="3200"/>
              <a:buChar char="■"/>
              <a:defRPr sz="32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p4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0" name="Google Shape;30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1088233" y="1567800"/>
            <a:ext cx="1143600" cy="26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 rotWithShape="1">
          <a:blip r:embed="rId2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(g3f661a119ed_7_0)">
  <p:cSld name="Título e corpo (g3f661a119ed_7_0)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" name="Google Shape;40;p5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(g3f661a119ed_14_0)">
  <p:cSld name="Título e corpo (g3f661a119ed_14_0)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4" name="Google Shape;44;p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77311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865613"/>
            <a:ext cx="11360700" cy="41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1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deivisontakatu/aula-documentacao-software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react/react" TargetMode="External"/><Relationship Id="rId4" Type="http://schemas.openxmlformats.org/officeDocument/2006/relationships/hyperlink" Target="https://github.com/nodejs/node" TargetMode="External"/><Relationship Id="rId5" Type="http://schemas.openxmlformats.org/officeDocument/2006/relationships/hyperlink" Target="https://github.com/docker/docs" TargetMode="External"/><Relationship Id="rId6" Type="http://schemas.openxmlformats.org/officeDocument/2006/relationships/hyperlink" Target="https://github.com/bitcoin/bitcoin" TargetMode="External"/><Relationship Id="rId7" Type="http://schemas.openxmlformats.org/officeDocument/2006/relationships/hyperlink" Target="https://github.com/github/brasil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gif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202529"/>
                </a:solidFill>
              </a:rPr>
              <a:t>Documentação de Software</a:t>
            </a:r>
            <a:endParaRPr>
              <a:solidFill>
                <a:srgbClr val="202529"/>
              </a:solidFill>
            </a:endParaRPr>
          </a:p>
        </p:txBody>
      </p:sp>
      <p:sp>
        <p:nvSpPr>
          <p:cNvPr id="51" name="Google Shape;51;p7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deivison.takatu@fatec.sp.gov.br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Sumário</a:t>
            </a:r>
            <a:endParaRPr b="1"/>
          </a:p>
        </p:txBody>
      </p:sp>
      <p:sp>
        <p:nvSpPr>
          <p:cNvPr id="58" name="Google Shape;58;p8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Definição de Documentação de Software;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Documentação e DevOps;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Combinação de Áreas;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Tipos de documentação;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Github - README;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Documentação do processo DevOps;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Atividade.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Se eu entrar hoje no GitHub do seu projeto, consigo entender e executar o projeto sem perguntar nada para vocês?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A documentação deve reduzir a dependência de explicações informais e permitir que outra pessoa compreenda o projeto.</a:t>
            </a:r>
            <a:endParaRPr/>
          </a:p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b="1" lang="pt-BR" sz="3000"/>
              <a:t>Exemplo</a:t>
            </a:r>
            <a:r>
              <a:rPr lang="pt-BR" sz="3000"/>
              <a:t>: </a:t>
            </a:r>
            <a:r>
              <a:rPr lang="pt-BR" sz="3000" u="sng">
                <a:solidFill>
                  <a:schemeClr val="hlink"/>
                </a:solidFill>
                <a:hlinkClick r:id="rId3"/>
              </a:rPr>
              <a:t>github.com/deivisontakatu/aula-documentacao-software</a:t>
            </a:r>
            <a:endParaRPr sz="3000"/>
          </a:p>
        </p:txBody>
      </p:sp>
      <p:sp>
        <p:nvSpPr>
          <p:cNvPr id="65" name="Google Shape;65;p9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Documentação de Projetos DevOps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Dependência de desenvolvedores específicos;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Dificuldade para novos integrantes entrarem no projeto;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Configurações esquecidas ou executadas de forma diferente;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Maior tempo para manutenção e resolução de problemas;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Conhecimento perdido quando uma pessoa deixa a equipe;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Perguntas repetitivas sobre instalação, execução e deploy.</a:t>
            </a:r>
            <a:endParaRPr/>
          </a:p>
        </p:txBody>
      </p:sp>
      <p:sp>
        <p:nvSpPr>
          <p:cNvPr id="72" name="Google Shape;72;p1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acontece sem documentação?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Documentação de software é o conjunto de informações que ajuda pessoas a compreender, utilizar, desenvolver, testar e manter um sistema.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Uma boa documentação responde: O que é o projeto? Para que ele serve? Como instalar e configurar? Como executar e testar? Como contribuir e realizar mudanças?</a:t>
            </a:r>
            <a:endParaRPr/>
          </a:p>
        </p:txBody>
      </p:sp>
      <p:sp>
        <p:nvSpPr>
          <p:cNvPr id="79" name="Google Shape;79;p11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é documentação de software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A documentação apoia quatro necessidades principais: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Comunicação - compartilhar conhecimento entre pessoas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Manutenção - facilitar correções e evolução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Colaboração - permitir trabalho conjunto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Continuidade - reduzir a dependência de indivíduos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Documentar não é apenas registrar, é tornar o conhecimento reutilizável.</a:t>
            </a:r>
            <a:endParaRPr/>
          </a:p>
        </p:txBody>
      </p:sp>
      <p:sp>
        <p:nvSpPr>
          <p:cNvPr id="86" name="Google Shape;86;p12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Por que documentar um projeto?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https://github.com/react/react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 u="sng">
                <a:solidFill>
                  <a:schemeClr val="hlink"/>
                </a:solidFill>
                <a:hlinkClick r:id="rId4"/>
              </a:rPr>
              <a:t>https://github.com/nodejs/node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 u="sng">
                <a:solidFill>
                  <a:schemeClr val="hlink"/>
                </a:solidFill>
                <a:hlinkClick r:id="rId5"/>
              </a:rPr>
              <a:t>https://github.com/docker/docs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 u="sng">
                <a:solidFill>
                  <a:schemeClr val="hlink"/>
                </a:solidFill>
                <a:hlinkClick r:id="rId6"/>
              </a:rPr>
              <a:t>https://github.com/bitcoin/bitcoin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 u="sng">
                <a:solidFill>
                  <a:schemeClr val="hlink"/>
                </a:solidFill>
                <a:hlinkClick r:id="rId7"/>
              </a:rPr>
              <a:t>https://github.com/github/brasil</a:t>
            </a:r>
            <a:endParaRPr/>
          </a:p>
        </p:txBody>
      </p:sp>
      <p:sp>
        <p:nvSpPr>
          <p:cNvPr id="93" name="Google Shape;93;p13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Exemplos de Projetos Bem Documentados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DevOps integra pessoas, processos e tecnologia para entregar software de forma contínua. A documentação contribui ao registrar:</a:t>
            </a:r>
            <a:endParaRPr/>
          </a:p>
          <a:p>
            <a:pPr indent="-381000" lvl="1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como o código é desenvolvido;</a:t>
            </a:r>
            <a:endParaRPr/>
          </a:p>
          <a:p>
            <a:pPr indent="-381000" lvl="1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como mudanças são validadas;</a:t>
            </a:r>
            <a:endParaRPr/>
          </a:p>
          <a:p>
            <a:pPr indent="-381000" lvl="1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como a pipeline funciona;</a:t>
            </a:r>
            <a:endParaRPr/>
          </a:p>
          <a:p>
            <a:pPr indent="-381000" lvl="1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como o sistema é implantado.</a:t>
            </a:r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Documentação e DevOps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Dev - inicia o trabalho com menor dependência da equipe;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Tester - identifica como executar e validar os testes;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DevOps - configura pipeline, ambientes e deploy;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Gestor - acompanha processos e decisões;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Usuário - aprende a utilizar o produto.</a:t>
            </a:r>
            <a:endParaRPr/>
          </a:p>
        </p:txBody>
      </p:sp>
      <p:sp>
        <p:nvSpPr>
          <p:cNvPr id="107" name="Google Shape;107;p15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Quem utiliza a documentação?</a:t>
            </a:r>
            <a:endParaRPr/>
          </a:p>
        </p:txBody>
      </p:sp>
      <p:pic>
        <p:nvPicPr>
          <p:cNvPr descr="a silhouette of a cat with a tail in a black circle (Fornecido por Tenor)" id="108" name="Google Shape;10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1506" y="3509396"/>
            <a:ext cx="1007450" cy="100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16513" y="4174615"/>
            <a:ext cx="1007450" cy="100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16675" y="4895550"/>
            <a:ext cx="1007450" cy="100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54618" y="5399250"/>
            <a:ext cx="1071924" cy="1071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Engenharia de Software (ES) → requisitos, arquitetura, código e testes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Gestão de Projetos (GP) → escopo, cronograma, riscos e entregas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DevOps → CI/CD, infraestrutura, deploy e monitoramento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Segurança da Informação → vulnerabilidades, políticas, acessos e incidentes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Qualidade de Software (QA) → testes, critérios de aceitação, evidências e qualidade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Produto / UX → requisitos do usuário, jornadas, regras de negócio e usabilidade</a:t>
            </a:r>
            <a:endParaRPr sz="2600"/>
          </a:p>
        </p:txBody>
      </p:sp>
      <p:sp>
        <p:nvSpPr>
          <p:cNvPr id="118" name="Google Shape;118;p1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Combinação de Áreas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Documentação técnica - descreve arquitetura, APIs, banco, componentes e configurações.</a:t>
            </a:r>
            <a:endParaRPr sz="2800"/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Documentação de projeto - registra objetivos, requisitos, decisões e organização.</a:t>
            </a:r>
            <a:endParaRPr sz="2800"/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Documentação de processo - descreve branches, commits, Pull Requests, testes, pipeline e deploy.</a:t>
            </a:r>
            <a:endParaRPr sz="2800"/>
          </a:p>
        </p:txBody>
      </p:sp>
      <p:sp>
        <p:nvSpPr>
          <p:cNvPr id="125" name="Google Shape;125;p17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Tipos de documentação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O README normalmente é o primeiro documento consultado em um repositório.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Ele deve permitir que uma pessoa entenda rapidamente: propósito do projeto; principais tecnologias; pré-requisitos; instalação e execução; testes; contribuição; e links importantes.</a:t>
            </a:r>
            <a:endParaRPr/>
          </a:p>
        </p:txBody>
      </p:sp>
      <p:sp>
        <p:nvSpPr>
          <p:cNvPr id="132" name="Google Shape;132;p18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README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Informe a stack necessária para executar o projeto.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b="1" lang="pt-BR"/>
              <a:t>Exemplos</a:t>
            </a:r>
            <a:r>
              <a:rPr lang="pt-BR"/>
              <a:t>: linguagem e versão; framework; banco de dados; gerenciador de pacotes; Docker, quando utilizado</a:t>
            </a:r>
            <a:r>
              <a:rPr lang="pt-BR"/>
              <a:t>;</a:t>
            </a:r>
            <a:r>
              <a:rPr lang="pt-BR"/>
              <a:t> Git e outras ferramentas.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Indique versões mínimas ou recomendadas quando isso fizer diferença.</a:t>
            </a:r>
            <a:endParaRPr/>
          </a:p>
        </p:txBody>
      </p:sp>
      <p:sp>
        <p:nvSpPr>
          <p:cNvPr id="139" name="Google Shape;139;p19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README - </a:t>
            </a:r>
            <a:r>
              <a:rPr lang="pt-BR"/>
              <a:t>Tecnologias e pré-requisitos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A documentação deve transformar o processo em uma sequência reproduzível.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Exemplo de fluxo: 1. Clonar o repositório; 2. Acessar a pasta; 3. Instalar dependências; 4. Configurar variáveis; 5. Executar o projeto; 6. Acessar a aplicação; 7. Executar os testes.</a:t>
            </a:r>
            <a:endParaRPr/>
          </a:p>
        </p:txBody>
      </p:sp>
      <p:sp>
        <p:nvSpPr>
          <p:cNvPr id="146" name="Google Shape;146;p2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README - </a:t>
            </a:r>
            <a:r>
              <a:rPr lang="pt-BR"/>
              <a:t>Instalação e execução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Explique quais configurações são necessárias sem expor informações sensíveis. Exemplo: quais variáveis existem; para que cada variável serve; quais são obrigatórias; como criar o arquivo de configuração; quais valores podem ser utilizados como exemplo.</a:t>
            </a:r>
            <a:endParaRPr/>
          </a:p>
        </p:txBody>
      </p:sp>
      <p:sp>
        <p:nvSpPr>
          <p:cNvPr id="153" name="Google Shape;153;p21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README - </a:t>
            </a:r>
            <a:r>
              <a:rPr lang="pt-BR"/>
              <a:t>Configuração e variáveis</a:t>
            </a:r>
            <a:endParaRPr/>
          </a:p>
        </p:txBody>
      </p:sp>
      <p:sp>
        <p:nvSpPr>
          <p:cNvPr id="154" name="Google Shape;154;p21"/>
          <p:cNvSpPr/>
          <p:nvPr/>
        </p:nvSpPr>
        <p:spPr>
          <a:xfrm>
            <a:off x="5137062" y="5194475"/>
            <a:ext cx="5613000" cy="13014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9525">
            <a:solidFill>
              <a:srgbClr val="D7D7D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52400" spcFirstLastPara="1" rIns="152400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pt-BR" spc="0" sz="2000" u="none" cap="none" strike="noStrike">
                <a:solidFill>
                  <a:srgbClr val="2D2D2D"/>
                </a:solidFill>
              </a:rPr>
              <a:t>PORT = 3000</a:t>
            </a:r>
            <a:br>
              <a:rPr i="0" lang="pt-BR" spc="0" sz="2000" u="none" cap="none" strike="noStrike">
                <a:solidFill>
                  <a:srgbClr val="FFFFFF"/>
                </a:solidFill>
              </a:rPr>
            </a:br>
            <a:r>
              <a:rPr i="0" lang="pt-BR" spc="0" sz="2000" u="none" cap="none" strike="noStrike">
                <a:solidFill>
                  <a:srgbClr val="2D2D2D"/>
                </a:solidFill>
              </a:rPr>
              <a:t>DATABASE_URL = sua_url_aqui</a:t>
            </a:r>
            <a:br>
              <a:rPr i="0" lang="pt-BR" spc="0" sz="2000" u="none" cap="none" strike="noStrike">
                <a:solidFill>
                  <a:srgbClr val="FFFFFF"/>
                </a:solidFill>
              </a:rPr>
            </a:br>
            <a:r>
              <a:rPr i="0" lang="pt-BR" spc="0" sz="2000" u="none" cap="none" strike="noStrike">
                <a:solidFill>
                  <a:srgbClr val="2D2D2D"/>
                </a:solidFill>
              </a:rPr>
              <a:t>API_KEY = sua_chave_aqui</a:t>
            </a:r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Uma documentação útil mostra como verificar se o projeto está funcionando.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Inclua comandos para: iniciar a aplicação; executar testes unitários; executar testes de integração; executar testes de performance, quando houver; verificar resultados e falhas.</a:t>
            </a:r>
            <a:endParaRPr/>
          </a:p>
        </p:txBody>
      </p:sp>
      <p:sp>
        <p:nvSpPr>
          <p:cNvPr id="161" name="Google Shape;161;p22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README - </a:t>
            </a:r>
            <a:r>
              <a:rPr lang="pt-BR"/>
              <a:t>Execução e testes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Apresente a organização das principais pastas e arquivos.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Exemplo: src/ para aplicação, tests/ para testes, docs/ para documentação e .github/workflows/ para pipelines.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Explique a responsabilidade das partes relevantes.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Evite documentar cada arquivo se isso não ajudar o leitor a compreender ou operar o sistema.</a:t>
            </a:r>
            <a:endParaRPr/>
          </a:p>
        </p:txBody>
      </p:sp>
      <p:sp>
        <p:nvSpPr>
          <p:cNvPr id="168" name="Google Shape;168;p23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README - </a:t>
            </a:r>
            <a:r>
              <a:rPr lang="pt-BR"/>
              <a:t>Estrutura do projeto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Desenvolvimento: implementação de funcionalidades e correções no código.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Git: controle de versão e histórico das alterações.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Pull Request: solicitação de revisão e integração das mudanças.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Build: compilação ou preparação do software para execução.</a:t>
            </a:r>
            <a:endParaRPr/>
          </a:p>
        </p:txBody>
      </p:sp>
      <p:sp>
        <p:nvSpPr>
          <p:cNvPr id="175" name="Google Shape;175;p2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Documentação do processo DevOps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Testes: validação do funcionamento e identificação de falhas.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Pipeline CI/CD: automação das etapas de integração, validação e entrega.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Deploy: publicação da aplicação em um ambiente de execução.</a:t>
            </a:r>
            <a:endParaRPr/>
          </a:p>
        </p:txBody>
      </p:sp>
      <p:sp>
        <p:nvSpPr>
          <p:cNvPr id="182" name="Google Shape;182;p25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Documentação do processo DevOps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Stack: conjunto de tecnologias utilizadas no desenvolvimento, como linguagens, frameworks, bancos de dados e ferramentas.</a:t>
            </a:r>
            <a:endParaRPr sz="2800"/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V</a:t>
            </a:r>
            <a:r>
              <a:rPr lang="pt-BR" sz="2800"/>
              <a:t>ersões e ferramentas: registro das versões utilizadas para facilitar a compatibilidade e a reprodução do ambiente.</a:t>
            </a:r>
            <a:endParaRPr sz="2800"/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Pré-requisitos: recursos necessários antes de executar o projeto, como runtimes, gerenciadores de pacotes, banco de dados, Git e Docker, quando aplicável.</a:t>
            </a:r>
            <a:endParaRPr sz="2800"/>
          </a:p>
        </p:txBody>
      </p:sp>
      <p:sp>
        <p:nvSpPr>
          <p:cNvPr id="189" name="Google Shape;189;p2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Tecnologias utilizadas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Dependências e configuração inicial: instruções para instalar os pacotes necessários, configurar variáveis de ambiente e preparar serviços externos, como bancos de dados.</a:t>
            </a:r>
            <a:endParaRPr sz="2800"/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Como iniciar a aplicação: sequência de comandos para executar o projeto e acessar a aplicação.</a:t>
            </a:r>
            <a:endParaRPr sz="2800"/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Validação do ambiente: orientações para identificar erros comuns e confirmar que a aplicação está funcionando corretamente.</a:t>
            </a:r>
            <a:endParaRPr sz="2800"/>
          </a:p>
        </p:txBody>
      </p:sp>
      <p:sp>
        <p:nvSpPr>
          <p:cNvPr id="196" name="Google Shape;196;p27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Instalação e Execução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Senhas e credenciais: nunca registrar senhas de usuários, administradores ou bancos de dados.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Chaves de API e tokens: não expor credenciais que permitam acessar serviços, sistemas ou recursos privados.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Dados sensíveis: evitar informações pessoais, dados confidenciais de clientes e informações internas restritas.</a:t>
            </a:r>
            <a:endParaRPr/>
          </a:p>
        </p:txBody>
      </p:sp>
      <p:sp>
        <p:nvSpPr>
          <p:cNvPr id="203" name="Google Shape;203;p28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NÃO colocar na documentação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9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Arquivos de configuração sigilosos: não publicar arquivos .env ou configurações que contenham segredos.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Informações de infraestrutura restritas: não divulgar detalhes que facilitem acessos indevidos ou comprometam a segurança do sistema.</a:t>
            </a:r>
            <a:endParaRPr/>
          </a:p>
        </p:txBody>
      </p:sp>
      <p:sp>
        <p:nvSpPr>
          <p:cNvPr id="210" name="Google Shape;210;p29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NÃO colocar na documentação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0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Escolha um projeto de software e elabore sua documentação, apresentando o objetivo, o problema que pretende resolver, o escopo e os principais requisitos funcionais e não funcionais. </a:t>
            </a:r>
            <a:endParaRPr sz="3000"/>
          </a:p>
          <a:p>
            <a:pPr indent="457200" lvl="0" marL="0" rtl="0" algn="just">
              <a:spcBef>
                <a:spcPts val="2100"/>
              </a:spcBef>
              <a:spcAft>
                <a:spcPts val="2100"/>
              </a:spcAft>
              <a:buNone/>
            </a:pPr>
            <a:r>
              <a:rPr lang="pt-BR" sz="3000"/>
              <a:t>Descreva as tecnologias utilizadas, a arquitetura da aplicação e a organização dos principais componentes do sistema.</a:t>
            </a:r>
            <a:endParaRPr sz="3000"/>
          </a:p>
        </p:txBody>
      </p:sp>
      <p:sp>
        <p:nvSpPr>
          <p:cNvPr id="217" name="Google Shape;217;p3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1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Crie ou atualize o arquivo README.md do repositório no GitHub, incluindo os pré-requisitos, as instruções de instalação, configuração e execução do projeto. </a:t>
            </a:r>
            <a:endParaRPr sz="3000"/>
          </a:p>
          <a:p>
            <a:pPr indent="457200" lvl="0" marL="0" rtl="0" algn="just">
              <a:spcBef>
                <a:spcPts val="2100"/>
              </a:spcBef>
              <a:spcAft>
                <a:spcPts val="2100"/>
              </a:spcAft>
              <a:buNone/>
            </a:pPr>
            <a:r>
              <a:rPr lang="pt-BR" sz="3000"/>
              <a:t>Quando aplicável, documente também as APIs, o banco de dados, as variáveis de ambiente e os procedimentos de testes e deploy.</a:t>
            </a:r>
            <a:endParaRPr sz="3000"/>
          </a:p>
        </p:txBody>
      </p:sp>
      <p:sp>
        <p:nvSpPr>
          <p:cNvPr id="224" name="Google Shape;224;p31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231" name="Google Shape;231;p32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HUMBLE J; PRIKLANDNICKI R. Entrega Contínua: Como Entregar Software de Forma Rápida e Confiável. São Paulo: Bookman, 2013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MUNIZ, A.; et al. Jornada Devops: Unindo Cultura Ágil, Lean e Tecnologia Para Entrega De Software Com Qualidade. São Paulo: Brasport, 2019.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SATO D. DevOps na prática: entrega de software confiável e automatizada. São Paulo: Casa do Código, 2014.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SILVA, R. Entrega contínua em Android: Como automatizar a distribuição de apps. São Paulo: Casa do Código, 2016.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ARUNDEL, J. DOMINGUS, J. DevOps nativo de nuvem com Kubernetes. São Paulo: Novatec, 2019.</a:t>
            </a:r>
            <a:endParaRPr sz="204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3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238" name="Google Shape;238;p33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MORAES, G. Caixa de Ferramentas DevOps: Um guia para construção, administração e arquitetura de sistemas modernos. São Paulo: Casa do Código, 2015.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PIRES, A.; MILITÃO, J. Integração Contínua com Jenkins. São Paulo: Casa do Código, 2019.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VITALINO, J. F. N.; CASTRO, M. A. N. Descomplicando o Docker. 2 ed. São Paulo: Brasport, 2018. SILVERMAN, R. E. Git: guia prático. São Paulo: Novatec, 2019.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KIM, G; HUMBLE, J; DEBOIS, P; WILLIS, J; Manual de DEVOPS: Como obter agilidade, confiabilidade e segurança em organizações tecnológicas. São Paulo: Starlin Alta Editora, 2018.</a:t>
            </a:r>
            <a:endParaRPr sz="2040"/>
          </a:p>
          <a:p>
            <a:pPr indent="0" lvl="0" marL="0" rtl="0" algn="just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 sz="204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4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202529"/>
                </a:solidFill>
              </a:rPr>
              <a:t>Documentação de Software</a:t>
            </a:r>
            <a:endParaRPr>
              <a:solidFill>
                <a:srgbClr val="202529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529"/>
              </a:solidFill>
            </a:endParaRPr>
          </a:p>
        </p:txBody>
      </p:sp>
      <p:sp>
        <p:nvSpPr>
          <p:cNvPr id="245" name="Google Shape;245;p34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deivison.takatu@fatec.sp.gov.br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Banded_Design_Teal">
      <a:dk1>
        <a:srgbClr val="363D3D"/>
      </a:dk1>
      <a:lt1>
        <a:srgbClr val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