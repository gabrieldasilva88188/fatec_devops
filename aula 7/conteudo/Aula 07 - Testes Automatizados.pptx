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embeddedFontLst>
    <p:embeddedFont>
      <p:font typeface="Raleway"/>
      <p:regular r:id="rId30"/>
      <p:bold r:id="rId31"/>
      <p:italic r:id="rId32"/>
      <p:boldItalic r:id="rId33"/>
    </p:embeddedFont>
    <p:embeddedFont>
      <p:font typeface="Roboto"/>
      <p:regular r:id="rId34"/>
      <p:bold r:id="rId35"/>
      <p:italic r:id="rId36"/>
      <p:boldItalic r:id="rId37"/>
    </p:embeddedFont>
    <p:embeddedFont>
      <p:font typeface="Lato"/>
      <p:regular r:id="rId38"/>
      <p:bold r:id="rId39"/>
      <p:italic r:id="rId40"/>
      <p:boldItalic r:id="rId41"/>
    </p:embeddedFont>
    <p:embeddedFont>
      <p:font typeface="Corbel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pos="6816">
          <p15:clr>
            <a:srgbClr val="A4A3A4"/>
          </p15:clr>
        </p15:guide>
        <p15:guide id="3" pos="816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6816"/>
        <p:guide pos="816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italic.fntdata"/><Relationship Id="rId20" Type="http://schemas.openxmlformats.org/officeDocument/2006/relationships/slide" Target="slides/slide14.xml"/><Relationship Id="rId42" Type="http://schemas.openxmlformats.org/officeDocument/2006/relationships/font" Target="fonts/Corbel-regular.fntdata"/><Relationship Id="rId41" Type="http://schemas.openxmlformats.org/officeDocument/2006/relationships/font" Target="fonts/Lato-boldItalic.fntdata"/><Relationship Id="rId22" Type="http://schemas.openxmlformats.org/officeDocument/2006/relationships/slide" Target="slides/slide16.xml"/><Relationship Id="rId44" Type="http://schemas.openxmlformats.org/officeDocument/2006/relationships/font" Target="fonts/Corbel-italic.fntdata"/><Relationship Id="rId21" Type="http://schemas.openxmlformats.org/officeDocument/2006/relationships/slide" Target="slides/slide15.xml"/><Relationship Id="rId43" Type="http://schemas.openxmlformats.org/officeDocument/2006/relationships/font" Target="fonts/Corbel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schemas.openxmlformats.org/officeDocument/2006/relationships/font" Target="fonts/Corbel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aleway-bold.fntdata"/><Relationship Id="rId30" Type="http://schemas.openxmlformats.org/officeDocument/2006/relationships/font" Target="fonts/Raleway-regular.fntdata"/><Relationship Id="rId11" Type="http://schemas.openxmlformats.org/officeDocument/2006/relationships/slide" Target="slides/slide5.xml"/><Relationship Id="rId33" Type="http://schemas.openxmlformats.org/officeDocument/2006/relationships/font" Target="fonts/Raleway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-italic.fntdata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39" Type="http://schemas.openxmlformats.org/officeDocument/2006/relationships/font" Target="fonts/Lato-bold.fntdata"/><Relationship Id="rId16" Type="http://schemas.openxmlformats.org/officeDocument/2006/relationships/slide" Target="slides/slide10.xml"/><Relationship Id="rId38" Type="http://schemas.openxmlformats.org/officeDocument/2006/relationships/font" Target="fonts/Lat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8d04ed4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8d04ed4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f88d04ed4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8d051dfec_0_3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8d051dfec_0_3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f8d051dfec_0_3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8d051dfec_0_3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8d051dfec_0_39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8d051dfec_0_39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8d04ed45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8d04ed45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f88d04ed45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88d04ed45_0_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88d04ed45_0_6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f88d04ed45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88d04ed45_0_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f88d04ed45_0_9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f88d04ed45_0_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8d051dfec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8d051dfec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8d051dfe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8d051dfe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8d051dfe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8d051dfe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8d051dfec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8d051dfec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8d051dfec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8d051dfec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8d051dfec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f8d051dfec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8d051dfec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8d051dfec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8d051dfec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8d051dfec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d051dfec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f8d051dfec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d051dfec_0_4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8d051dfec_0_40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g3f8d051dfec_0_40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d051dfec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8d051dfec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6ea76ad9e_0_9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f6ea76ad9e_0_92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6ea76ad9e_0_9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661a119ed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f661a119ed_0_4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3f661a119ed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8d051dfec_0_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f8d051dfec_0_40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8d051dfec_0_40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7_0)">
  <p:cSld name="Título e corpo (g3f661a119ed_7_0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(g3f661a119ed_14_0)">
  <p:cSld name="Título e corpo (g3f661a119ed_14_0)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1">
  <p:cSld name="TITLE_1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9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57" name="Google Shape;57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9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63" name="Google Shape;63;p9"/>
          <p:cNvPicPr preferRelativeResize="0"/>
          <p:nvPr/>
        </p:nvPicPr>
        <p:blipFill rotWithShape="1">
          <a:blip r:embed="rId2">
            <a:alphaModFix/>
          </a:blip>
          <a:srcRect b="26659" l="0" r="0" t="0"/>
          <a:stretch/>
        </p:blipFill>
        <p:spPr>
          <a:xfrm>
            <a:off x="0" y="49475"/>
            <a:ext cx="1570975" cy="60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indent="-349250" lvl="1" marL="914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indent="-349250" lvl="2" marL="1371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indent="-349250" lvl="3" marL="1828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indent="-349250" lvl="4" marL="22860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indent="-3492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indent="-3492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indent="-3492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indent="-3492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4" name="Google Shape;74;p12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89" name="Google Shape;89;p16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" name="Google Shape;90;p16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1" name="Google Shape;91;p1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1">
            <a:alphaModFix/>
          </a:blip>
          <a:srcRect b="26659" l="0" r="0" t="0"/>
          <a:stretch/>
        </p:blipFill>
        <p:spPr>
          <a:xfrm>
            <a:off x="10097367" y="39584"/>
            <a:ext cx="2094633" cy="8012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marketplace?type=actions&amp;category=testing" TargetMode="External"/><Relationship Id="rId4" Type="http://schemas.openxmlformats.org/officeDocument/2006/relationships/hyperlink" Target="https://github.com/marketplace?type=actions&amp;category=testing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github.com/deivisontakatu/projeto-pipeline-teste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hyperlink" Target="https://github.com/deivisontakatu/projeto-pipeline-testes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Testes Automatizados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Introdução aos Testes Automatizados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Pipeline de Testes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Unitários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de Integração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Testes de Performance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Qualidade e Validação Automatizada</a:t>
            </a:r>
            <a:endParaRPr/>
          </a:p>
          <a:p>
            <a:pPr indent="-431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Pipeline: Sequência de validações automatizadas executadas durante o ciclo de entrega do software.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Build uma única vez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O mesmo artefato é promovido entre ambientes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Mesmo deploy em todos os ambientes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Desenvolvimento → Homologação → Produção</a:t>
            </a:r>
            <a:endParaRPr sz="20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Falhou? Para tudo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Nenhuma etapa continua após erro</a:t>
            </a:r>
            <a:endParaRPr sz="2800"/>
          </a:p>
        </p:txBody>
      </p:sp>
      <p:sp>
        <p:nvSpPr>
          <p:cNvPr id="121" name="Google Shape;121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Estrutura de pipeline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7444550" y="3429000"/>
            <a:ext cx="4179900" cy="2651100"/>
          </a:xfrm>
          <a:prstGeom prst="wedgeRectCallout">
            <a:avLst>
              <a:gd fmla="val -20833" name="adj1"/>
              <a:gd fmla="val 62500" name="adj2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45720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pt-BR"/>
              <a:t>Um desenvolvedor altera a tela de login de um sistema e envia o código para o GitHub. A partir disso, o pipeline inicia automaticamente: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O sistema baixa o código atualizado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Compila 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Executa testes automáticos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Verifica a qualidade do código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Gera uma nova versão da aplicação</a:t>
            </a:r>
            <a:endParaRPr/>
          </a:p>
          <a:p>
            <a:pPr indent="-3175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AutoNum type="arabicPeriod"/>
            </a:pPr>
            <a:r>
              <a:rPr lang="pt-BR"/>
              <a:t>Pública em ambiente de homologação</a:t>
            </a:r>
            <a:endParaRPr/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São verificações executadas automaticamente por ferramentas para validar o comportamento esperado de uma aplicação.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Permitem verificar funcionalidades sem depender da execução manual de cada cenário por parte do desenvolvedor.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Podem ser executados durante o desenvolvimento e integrados às pipelines de Integração Contínua (CI).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lang="pt-BR" sz="2300"/>
              <a:t>Quando uma alteração é realizada, os testes podem ser executados automaticamente para identificar possíveis falhas antes da entrega do software.</a:t>
            </a:r>
            <a:endParaRPr sz="2300"/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são Testes Automatizados?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Reduzir erros humanos</a:t>
            </a:r>
            <a:r>
              <a:rPr lang="pt-BR" sz="2300"/>
              <a:t>: Diminuir a dependência de verificações manuais e repetitivas.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Aumentar a velocidade</a:t>
            </a:r>
            <a:r>
              <a:rPr lang="pt-BR" sz="2300"/>
              <a:t>: Executar diversas verificações em poucos segundos ou minutos.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Identificar falhas rapidamente</a:t>
            </a:r>
            <a:r>
              <a:rPr lang="pt-BR" sz="2300"/>
              <a:t>: Detectar problemas logo após uma alteração no código.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Garantir consistência</a:t>
            </a:r>
            <a:r>
              <a:rPr lang="pt-BR" sz="2300"/>
              <a:t>: Executar os mesmos cenários de teste sempre que necessário.</a:t>
            </a:r>
            <a:endParaRPr sz="2300"/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Char char="●"/>
            </a:pPr>
            <a:r>
              <a:rPr b="1" lang="pt-BR" sz="2300"/>
              <a:t>Aumentar a confiabilidade</a:t>
            </a:r>
            <a:r>
              <a:rPr lang="pt-BR" sz="2300"/>
              <a:t>: Verificar continuamente se as funcionalidades existentes continuam funcionando.</a:t>
            </a:r>
            <a:endParaRPr sz="2300"/>
          </a:p>
        </p:txBody>
      </p:sp>
      <p:sp>
        <p:nvSpPr>
          <p:cNvPr id="136" name="Google Shape;136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Por que automatizar os testes?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pipeline de testes executa automaticamente validações no sistema após o processo de build.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O objetivo é garantir que novas alterações não quebrem funcionalidades existentes do sistema.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Principais funções</a:t>
            </a:r>
            <a:endParaRPr sz="28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Execução automática de testes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Validação contínua da aplicação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pt-BR" sz="2000"/>
              <a:t>Identificação rápida de falhas</a:t>
            </a:r>
            <a:endParaRPr sz="2000"/>
          </a:p>
        </p:txBody>
      </p:sp>
      <p:sp>
        <p:nvSpPr>
          <p:cNvPr id="143" name="Google Shape;143;p2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testes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pipeline de qualidade realiza verificações automatizadas para avaliar se o código atende aos padrões definidos antes de avançar para as próximas etapas.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O objetivo é identificar problemas de qualidade, inconsistências e possíveis falhas no código de forma antecipada.</a:t>
            </a:r>
            <a:endParaRPr/>
          </a:p>
        </p:txBody>
      </p:sp>
      <p:sp>
        <p:nvSpPr>
          <p:cNvPr id="150" name="Google Shape;150;p2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Pipeline de qualidade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É o catálogo de Actions, ferramentas e extensões que podem ser utilizadas nos workflows do GitHub Actions.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Permite encontrar soluções prontas para build, testes, qualidade, segurança, deploy, cache e outras etapas da pipeline.</a:t>
            </a:r>
            <a:endParaRPr sz="2800"/>
          </a:p>
          <a:p>
            <a:pPr indent="-406400" lvl="0" marL="457200" rtl="0" algn="just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pt-BR" sz="2800"/>
              <a:t>As Actions podem ser desenvolvidas pelo GitHub, parceiros ou pela comunidade.</a:t>
            </a:r>
            <a:endParaRPr sz="2800"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 sz="2800"/>
              <a:t>GitHub Marketplace: </a:t>
            </a:r>
            <a:r>
              <a:rPr lang="pt-BR" sz="2200" u="sng">
                <a:solidFill>
                  <a:schemeClr val="hlink"/>
                </a:solidFill>
                <a:hlinkClick r:id="rId3"/>
              </a:rPr>
              <a:t>https://github.com/marketplace?type=actions</a:t>
            </a:r>
            <a:r>
              <a:rPr b="1" lang="pt-BR" sz="2200" u="sng">
                <a:solidFill>
                  <a:schemeClr val="hlink"/>
                </a:solidFill>
                <a:hlinkClick r:id="rId4"/>
              </a:rPr>
              <a:t>&amp;category=testing</a:t>
            </a:r>
            <a:endParaRPr b="1" sz="2200"/>
          </a:p>
        </p:txBody>
      </p:sp>
      <p:sp>
        <p:nvSpPr>
          <p:cNvPr id="157" name="Google Shape;157;p2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GitHub Actions Marktplace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3957833" y="1536633"/>
            <a:ext cx="78183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60960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100"/>
              <a:t>Vendedores de uma loja de roupas realizavam o cálculo de descontos manualmente, gerando </a:t>
            </a:r>
            <a:r>
              <a:rPr b="1" lang="pt-BR" sz="2100"/>
              <a:t>erros frequentes</a:t>
            </a:r>
            <a:r>
              <a:rPr lang="pt-BR" sz="2100"/>
              <a:t> e </a:t>
            </a:r>
            <a:r>
              <a:rPr b="1" lang="pt-BR" sz="2100"/>
              <a:t>inconsistências no atendimento</a:t>
            </a:r>
            <a:r>
              <a:rPr lang="pt-BR" sz="2100"/>
              <a:t>. A falta de padronização resultava em clientes insatisfeitos, retrabalho e perda de confiança no processo de vendas.</a:t>
            </a:r>
            <a:endParaRPr sz="2100"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36633"/>
            <a:ext cx="3416378" cy="4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8"/>
          <p:cNvSpPr/>
          <p:nvPr/>
        </p:nvSpPr>
        <p:spPr>
          <a:xfrm>
            <a:off x="4105867" y="4212833"/>
            <a:ext cx="3723900" cy="1879200"/>
          </a:xfrm>
          <a:prstGeom prst="roundRect">
            <a:avLst>
              <a:gd fmla="val 4676" name="adj"/>
            </a:avLst>
          </a:prstGeom>
          <a:solidFill>
            <a:srgbClr val="F8FAFC"/>
          </a:solidFill>
          <a:ln cap="flat" cmpd="sng" w="1270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/>
          <p:nvPr/>
        </p:nvSpPr>
        <p:spPr>
          <a:xfrm>
            <a:off x="4339447" y="4429140"/>
            <a:ext cx="2823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pt-BR" sz="1600" u="none" cap="none" strike="noStrike">
                <a:solidFill>
                  <a:srgbClr val="272525"/>
                </a:solidFill>
              </a:rPr>
              <a:t>Erros humanos</a:t>
            </a:r>
            <a:endParaRPr i="0" sz="1600" u="none" cap="none" strike="noStrike"/>
          </a:p>
        </p:txBody>
      </p:sp>
      <p:sp>
        <p:nvSpPr>
          <p:cNvPr id="166" name="Google Shape;166;p28"/>
          <p:cNvSpPr/>
          <p:nvPr/>
        </p:nvSpPr>
        <p:spPr>
          <a:xfrm>
            <a:off x="4339447" y="4879490"/>
            <a:ext cx="3256800" cy="9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i="0" lang="pt-BR" sz="1600" u="none" cap="none" strike="noStrike">
                <a:solidFill>
                  <a:srgbClr val="272525"/>
                </a:solidFill>
              </a:rPr>
              <a:t>Cálculos incorretos geravam divergências nos valores cobrados</a:t>
            </a:r>
            <a:endParaRPr i="0" sz="1600" u="none" cap="none" strike="noStrike"/>
          </a:p>
        </p:txBody>
      </p:sp>
      <p:sp>
        <p:nvSpPr>
          <p:cNvPr id="167" name="Google Shape;167;p28"/>
          <p:cNvSpPr/>
          <p:nvPr/>
        </p:nvSpPr>
        <p:spPr>
          <a:xfrm>
            <a:off x="8052267" y="4212833"/>
            <a:ext cx="3723900" cy="1879200"/>
          </a:xfrm>
          <a:prstGeom prst="roundRect">
            <a:avLst>
              <a:gd fmla="val 4676" name="adj"/>
            </a:avLst>
          </a:prstGeom>
          <a:solidFill>
            <a:srgbClr val="F8FAFC"/>
          </a:solidFill>
          <a:ln cap="flat" cmpd="sng" w="12700">
            <a:solidFill>
              <a:srgbClr val="C0C1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8"/>
          <p:cNvSpPr/>
          <p:nvPr/>
        </p:nvSpPr>
        <p:spPr>
          <a:xfrm>
            <a:off x="8285847" y="4429140"/>
            <a:ext cx="2823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b="1" i="0" lang="pt-BR" sz="1600" u="none" cap="none" strike="noStrike">
                <a:solidFill>
                  <a:srgbClr val="272525"/>
                </a:solidFill>
              </a:rPr>
              <a:t>Inconsistência</a:t>
            </a:r>
            <a:endParaRPr i="0" sz="1600" u="none" cap="none" strike="noStrike"/>
          </a:p>
        </p:txBody>
      </p:sp>
      <p:sp>
        <p:nvSpPr>
          <p:cNvPr id="169" name="Google Shape;169;p28"/>
          <p:cNvSpPr/>
          <p:nvPr/>
        </p:nvSpPr>
        <p:spPr>
          <a:xfrm>
            <a:off x="8285847" y="4879490"/>
            <a:ext cx="3256800" cy="6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i="0" lang="pt-BR" sz="1600" u="none" cap="none" strike="noStrike">
                <a:solidFill>
                  <a:srgbClr val="272525"/>
                </a:solidFill>
              </a:rPr>
              <a:t>Cada vendedor aplicava descontos de forma diferente</a:t>
            </a:r>
            <a:endParaRPr i="0" sz="1600" u="none" cap="none" strike="noStrike"/>
          </a:p>
        </p:txBody>
      </p:sp>
      <p:sp>
        <p:nvSpPr>
          <p:cNvPr id="170" name="Google Shape;170;p2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575100" y="1536633"/>
            <a:ext cx="60309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609600" lvl="0" marL="0" rtl="0" algn="l">
              <a:spcBef>
                <a:spcPts val="0"/>
              </a:spcBef>
              <a:spcAft>
                <a:spcPts val="2100"/>
              </a:spcAft>
              <a:buNone/>
            </a:pPr>
            <a:r>
              <a:rPr lang="pt-BR" sz="2100"/>
              <a:t>Foi desenvolvido um </a:t>
            </a:r>
            <a:r>
              <a:rPr b="1" lang="pt-BR" sz="2100"/>
              <a:t>sistema web</a:t>
            </a:r>
            <a:r>
              <a:rPr lang="pt-BR" sz="2100"/>
              <a:t> capaz de calcular descontos automaticamente, seguindo regras definidas pela empresa de forma </a:t>
            </a:r>
            <a:r>
              <a:rPr b="1" lang="pt-BR" sz="2100"/>
              <a:t>padronizada </a:t>
            </a:r>
            <a:r>
              <a:rPr lang="pt-BR" sz="2100"/>
              <a:t>e </a:t>
            </a:r>
            <a:r>
              <a:rPr b="1" lang="pt-BR" sz="2100"/>
              <a:t>confiável</a:t>
            </a:r>
            <a:r>
              <a:rPr lang="pt-BR" sz="2100"/>
              <a:t>. A automação reduziu falhas, agilizou o atendimento aos clientes e eliminou a dependência de cálculos manuais durante as vendas.</a:t>
            </a:r>
            <a:endParaRPr sz="2100"/>
          </a:p>
        </p:txBody>
      </p:sp>
      <p:pic>
        <p:nvPicPr>
          <p:cNvPr id="176" name="Google Shape;17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9304" y="1556066"/>
            <a:ext cx="4927095" cy="320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6709233" y="4757850"/>
            <a:ext cx="5207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434343"/>
                </a:solidFill>
              </a:rPr>
              <a:t>Fonte</a:t>
            </a:r>
            <a:r>
              <a:rPr lang="pt-BR" sz="1600">
                <a:solidFill>
                  <a:srgbClr val="434343"/>
                </a:solidFill>
              </a:rPr>
              <a:t>: </a:t>
            </a:r>
            <a:r>
              <a:rPr lang="pt-BR" sz="1600">
                <a:solidFill>
                  <a:srgbClr val="434343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Elaborado pelo autor.</a:t>
            </a:r>
            <a:endParaRPr sz="1600">
              <a:solidFill>
                <a:srgbClr val="434343"/>
              </a:solidFill>
            </a:endParaRPr>
          </a:p>
        </p:txBody>
      </p:sp>
      <p:grpSp>
        <p:nvGrpSpPr>
          <p:cNvPr id="178" name="Google Shape;178;p29"/>
          <p:cNvGrpSpPr/>
          <p:nvPr/>
        </p:nvGrpSpPr>
        <p:grpSpPr>
          <a:xfrm>
            <a:off x="406390" y="5329424"/>
            <a:ext cx="11378916" cy="1020528"/>
            <a:chOff x="304800" y="4191000"/>
            <a:chExt cx="8534400" cy="571500"/>
          </a:xfrm>
        </p:grpSpPr>
        <p:sp>
          <p:nvSpPr>
            <p:cNvPr id="179" name="Google Shape;179;p29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fmla="val 13333" name="adj"/>
              </a:avLst>
            </a:prstGeom>
            <a:solidFill>
              <a:srgbClr val="F8FAFC"/>
            </a:solidFill>
            <a:ln cap="flat" cmpd="sng" w="127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29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254000" spcFirstLastPara="1" rIns="0" wrap="square" tIns="0">
              <a:noAutofit/>
            </a:bodyPr>
            <a:lstStyle/>
            <a:p>
              <a:pPr indent="-425450" lvl="0" marL="609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900"/>
                <a:buChar char="●"/>
              </a:pPr>
              <a:r>
                <a:rPr lang="pt-BR" sz="1900">
                  <a:solidFill>
                    <a:srgbClr val="434343"/>
                  </a:solidFill>
                </a:rPr>
                <a:t>Compras </a:t>
              </a:r>
              <a:r>
                <a:rPr b="1" lang="pt-BR" sz="1900">
                  <a:solidFill>
                    <a:srgbClr val="434343"/>
                  </a:solidFill>
                </a:rPr>
                <a:t>abaixo </a:t>
              </a:r>
              <a:r>
                <a:rPr lang="pt-BR" sz="1900">
                  <a:solidFill>
                    <a:srgbClr val="434343"/>
                  </a:solidFill>
                </a:rPr>
                <a:t>de R$ 100 recebem </a:t>
              </a:r>
              <a:r>
                <a:rPr b="1" lang="pt-BR" sz="1900">
                  <a:solidFill>
                    <a:srgbClr val="434343"/>
                  </a:solidFill>
                </a:rPr>
                <a:t>10%</a:t>
              </a:r>
              <a:r>
                <a:rPr lang="pt-BR" sz="1900">
                  <a:solidFill>
                    <a:srgbClr val="434343"/>
                  </a:solidFill>
                </a:rPr>
                <a:t> de desconto.</a:t>
              </a:r>
              <a:endParaRPr sz="1900">
                <a:solidFill>
                  <a:srgbClr val="434343"/>
                </a:solidFill>
              </a:endParaRPr>
            </a:p>
            <a:p>
              <a:pPr indent="-425450" lvl="0" marL="6096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1900"/>
                <a:buChar char="●"/>
              </a:pPr>
              <a:r>
                <a:rPr lang="pt-BR" sz="1900">
                  <a:solidFill>
                    <a:srgbClr val="434343"/>
                  </a:solidFill>
                </a:rPr>
                <a:t>Compras </a:t>
              </a:r>
              <a:r>
                <a:rPr b="1" lang="pt-BR" sz="1900">
                  <a:solidFill>
                    <a:srgbClr val="434343"/>
                  </a:solidFill>
                </a:rPr>
                <a:t>iguais ou superiores</a:t>
              </a:r>
              <a:r>
                <a:rPr lang="pt-BR" sz="1900">
                  <a:solidFill>
                    <a:srgbClr val="434343"/>
                  </a:solidFill>
                </a:rPr>
                <a:t> a R$ 100 recebem </a:t>
              </a:r>
              <a:r>
                <a:rPr b="1" lang="pt-BR" sz="1900">
                  <a:solidFill>
                    <a:srgbClr val="434343"/>
                  </a:solidFill>
                </a:rPr>
                <a:t>5%</a:t>
              </a:r>
              <a:r>
                <a:rPr lang="pt-BR" sz="1900">
                  <a:solidFill>
                    <a:srgbClr val="434343"/>
                  </a:solidFill>
                </a:rPr>
                <a:t> de desconto.</a:t>
              </a:r>
              <a:endParaRPr sz="1900">
                <a:solidFill>
                  <a:srgbClr val="434343"/>
                </a:solidFill>
              </a:endParaRPr>
            </a:p>
          </p:txBody>
        </p:sp>
      </p:grpSp>
      <p:sp>
        <p:nvSpPr>
          <p:cNvPr id="181" name="Google Shape;181;p2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0"/>
          <p:cNvPicPr preferRelativeResize="0"/>
          <p:nvPr/>
        </p:nvPicPr>
        <p:blipFill rotWithShape="1">
          <a:blip r:embed="rId3">
            <a:alphaModFix/>
          </a:blip>
          <a:srcRect b="0" l="0" r="0" t="4288"/>
          <a:stretch/>
        </p:blipFill>
        <p:spPr>
          <a:xfrm>
            <a:off x="1760333" y="795000"/>
            <a:ext cx="8671333" cy="534776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 txBox="1"/>
          <p:nvPr/>
        </p:nvSpPr>
        <p:spPr>
          <a:xfrm>
            <a:off x="3080583" y="6142767"/>
            <a:ext cx="6030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chemeClr val="dk2"/>
                </a:solidFill>
              </a:rPr>
              <a:t>Fonte</a:t>
            </a:r>
            <a:r>
              <a:rPr lang="pt-BR" sz="1600">
                <a:solidFill>
                  <a:schemeClr val="dk2"/>
                </a:solidFill>
              </a:rPr>
              <a:t>: </a:t>
            </a:r>
            <a:r>
              <a:rPr lang="pt-BR" sz="1600" u="sng">
                <a:solidFill>
                  <a:schemeClr val="hlink"/>
                </a:solidFill>
                <a:hlinkClick r:id="rId4"/>
              </a:rPr>
              <a:t>https://github.com/deivisontakatu/projeto-pipeline-testes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Testes</a:t>
            </a:r>
            <a:endParaRPr/>
          </a:p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Os diferentes tipos de testes técnicos atuam em conjunto para garantir qualidade, confiabilidade, estabilidade e o correto funcionamento do software, além de verificar seu alinhamento aos requisitos e objetivos definidos. Para este projeto, serão considerados os três tipos de testes a seguir:</a:t>
            </a:r>
            <a:endParaRPr/>
          </a:p>
        </p:txBody>
      </p:sp>
      <p:grpSp>
        <p:nvGrpSpPr>
          <p:cNvPr id="194" name="Google Shape;194;p31"/>
          <p:cNvGrpSpPr/>
          <p:nvPr/>
        </p:nvGrpSpPr>
        <p:grpSpPr>
          <a:xfrm>
            <a:off x="484887" y="4001266"/>
            <a:ext cx="3555911" cy="2090490"/>
            <a:chOff x="381000" y="1333500"/>
            <a:chExt cx="2667000" cy="1714500"/>
          </a:xfrm>
        </p:grpSpPr>
        <p:sp>
          <p:nvSpPr>
            <p:cNvPr id="195" name="Google Shape;195;p31"/>
            <p:cNvSpPr/>
            <p:nvPr/>
          </p:nvSpPr>
          <p:spPr>
            <a:xfrm>
              <a:off x="381000" y="1333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31"/>
            <p:cNvSpPr txBox="1"/>
            <p:nvPr/>
          </p:nvSpPr>
          <p:spPr>
            <a:xfrm>
              <a:off x="571500" y="1559052"/>
              <a:ext cx="381000" cy="381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2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precision_manufacturing</a:t>
              </a:r>
              <a:endParaRPr sz="32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97" name="Google Shape;197;p31"/>
            <p:cNvSpPr txBox="1"/>
            <p:nvPr/>
          </p:nvSpPr>
          <p:spPr>
            <a:xfrm>
              <a:off x="571500" y="2000250"/>
              <a:ext cx="2286000" cy="8574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Unitários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Validam funções e métodos de forma isolada.</a:t>
              </a:r>
              <a:endParaRPr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31"/>
          <p:cNvGrpSpPr/>
          <p:nvPr/>
        </p:nvGrpSpPr>
        <p:grpSpPr>
          <a:xfrm>
            <a:off x="4294792" y="4001266"/>
            <a:ext cx="3555911" cy="2090490"/>
            <a:chOff x="3238500" y="1333500"/>
            <a:chExt cx="2667000" cy="1714500"/>
          </a:xfrm>
        </p:grpSpPr>
        <p:sp>
          <p:nvSpPr>
            <p:cNvPr id="199" name="Google Shape;199;p31"/>
            <p:cNvSpPr/>
            <p:nvPr/>
          </p:nvSpPr>
          <p:spPr>
            <a:xfrm>
              <a:off x="3238500" y="1333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1"/>
            <p:cNvSpPr txBox="1"/>
            <p:nvPr/>
          </p:nvSpPr>
          <p:spPr>
            <a:xfrm>
              <a:off x="34290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1" name="Google Shape;201;p31"/>
            <p:cNvSpPr txBox="1"/>
            <p:nvPr/>
          </p:nvSpPr>
          <p:spPr>
            <a:xfrm>
              <a:off x="34290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Integração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Verificam a comunicação eficiente entre os módulos.</a:t>
              </a:r>
              <a:endParaRPr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" name="Google Shape;202;p31"/>
          <p:cNvGrpSpPr/>
          <p:nvPr/>
        </p:nvGrpSpPr>
        <p:grpSpPr>
          <a:xfrm>
            <a:off x="8104697" y="4001266"/>
            <a:ext cx="3555911" cy="2090490"/>
            <a:chOff x="6096000" y="1333500"/>
            <a:chExt cx="2667000" cy="1714500"/>
          </a:xfrm>
        </p:grpSpPr>
        <p:sp>
          <p:nvSpPr>
            <p:cNvPr id="203" name="Google Shape;203;p31"/>
            <p:cNvSpPr/>
            <p:nvPr/>
          </p:nvSpPr>
          <p:spPr>
            <a:xfrm>
              <a:off x="6096000" y="1333500"/>
              <a:ext cx="2667000" cy="17145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31"/>
            <p:cNvSpPr txBox="1"/>
            <p:nvPr/>
          </p:nvSpPr>
          <p:spPr>
            <a:xfrm>
              <a:off x="6286500" y="15590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200">
                  <a:solidFill>
                    <a:srgbClr val="F59E0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3200">
                <a:solidFill>
                  <a:srgbClr val="F59E0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5" name="Google Shape;205;p31"/>
            <p:cNvSpPr txBox="1"/>
            <p:nvPr/>
          </p:nvSpPr>
          <p:spPr>
            <a:xfrm>
              <a:off x="6286500" y="2000250"/>
              <a:ext cx="2286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b="1" sz="2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pt-BR" sz="2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Avaliam a velocidade e estabilidade sob carga.</a:t>
              </a:r>
              <a:endParaRPr sz="2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6" name="Google Shape;206;p31"/>
          <p:cNvSpPr txBox="1"/>
          <p:nvPr/>
        </p:nvSpPr>
        <p:spPr>
          <a:xfrm>
            <a:off x="8104900" y="6091867"/>
            <a:ext cx="36717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r">
              <a:spcBef>
                <a:spcPts val="80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rgbClr val="434343"/>
                </a:solidFill>
              </a:rPr>
              <a:t>- Pires e Militão (2019).</a:t>
            </a:r>
            <a:endParaRPr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Responsáveis pela validação de pequenas partes do sistema, como funções, métodos e componentes isolados do código.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São executados de forma rápida e automatizada, permitindo identificar falhas durante o desenvolvimento antes da integração completa da aplicação.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Facilitam a manutenção do software, aumentam a confiabilidade das funcionalidades e reduzem custos com correções futuras.</a:t>
            </a:r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Unitários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406400" y="5329564"/>
            <a:ext cx="113793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540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Exemplo Prático: </a:t>
            </a:r>
            <a:r>
              <a:rPr lang="pt-BR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Alterando a regra de desconto para 15%.</a:t>
            </a:r>
            <a:endParaRPr b="0" sz="1900">
              <a:solidFill>
                <a:srgbClr val="991B1B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Problema</a:t>
            </a:r>
            <a:r>
              <a:rPr lang="pt-BR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rPr>
              <a:t>: O sistema esperava desconto de 10% ou 5%.</a:t>
            </a:r>
            <a:endParaRPr b="1" sz="1900">
              <a:solidFill>
                <a:srgbClr val="991B1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14" name="Google Shape;214;p32"/>
          <p:cNvGrpSpPr/>
          <p:nvPr/>
        </p:nvGrpSpPr>
        <p:grpSpPr>
          <a:xfrm>
            <a:off x="406390" y="5329424"/>
            <a:ext cx="11378916" cy="1020528"/>
            <a:chOff x="304800" y="4191000"/>
            <a:chExt cx="8534400" cy="571500"/>
          </a:xfrm>
        </p:grpSpPr>
        <p:sp>
          <p:nvSpPr>
            <p:cNvPr id="215" name="Google Shape;215;p32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127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32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4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Prático: 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Alterando a regra de desconto para 15%.</a:t>
              </a:r>
              <a:endParaRPr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O sistema esperava desconto de 10% ou 5%.</a:t>
              </a:r>
              <a:endParaRPr b="1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Integração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Testam a comunicação e o funcionamento conjunto entre módulos, serviços, APIs e bancos de dados da aplicação.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Permitem identificar falhas na troca de informações entre componentes que funcionam corretamente de forma isolada.</a:t>
            </a:r>
            <a:endParaRPr/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Garantem maior estabilidade do sistema, validando fluxos completos e reduzindo riscos de inconsistências em ambientes de produção.</a:t>
            </a:r>
            <a:endParaRPr b="1"/>
          </a:p>
        </p:txBody>
      </p:sp>
      <p:grpSp>
        <p:nvGrpSpPr>
          <p:cNvPr id="223" name="Google Shape;223;p33"/>
          <p:cNvGrpSpPr/>
          <p:nvPr/>
        </p:nvGrpSpPr>
        <p:grpSpPr>
          <a:xfrm>
            <a:off x="406390" y="5329424"/>
            <a:ext cx="11378916" cy="1020528"/>
            <a:chOff x="304800" y="4191000"/>
            <a:chExt cx="8534400" cy="571500"/>
          </a:xfrm>
        </p:grpSpPr>
        <p:sp>
          <p:nvSpPr>
            <p:cNvPr id="224" name="Google Shape;224;p33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127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33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4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Alterando o texto do botão para “Calcular”.</a:t>
              </a:r>
              <a:endParaRPr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Problema: 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Não encontrou o botão “Calcular Desconto” durante a interação.</a:t>
              </a:r>
              <a:endParaRPr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Testes de Performance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Responsáveis por avaliar o comportamento da aplicação em situações de carga, tempo de resposta e consumo de recursos.</a:t>
            </a:r>
            <a:endParaRPr>
              <a:solidFill>
                <a:srgbClr val="434343"/>
              </a:solidFill>
            </a:endParaRPr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Permitem identificar gargalos, lentidão e falhas relacionadas ao desempenho do sistema antes da implantação em produção.</a:t>
            </a:r>
            <a:endParaRPr>
              <a:solidFill>
                <a:srgbClr val="434343"/>
              </a:solidFill>
            </a:endParaRPr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Garantem estabilidade, escalabilidade e melhor experiência do usuário, validando se a aplicação suporta operações dentro do tempo esperado.</a:t>
            </a:r>
            <a:endParaRPr>
              <a:solidFill>
                <a:srgbClr val="434343"/>
              </a:solidFill>
            </a:endParaRPr>
          </a:p>
        </p:txBody>
      </p:sp>
      <p:grpSp>
        <p:nvGrpSpPr>
          <p:cNvPr id="232" name="Google Shape;232;p34"/>
          <p:cNvGrpSpPr/>
          <p:nvPr/>
        </p:nvGrpSpPr>
        <p:grpSpPr>
          <a:xfrm>
            <a:off x="406390" y="5329424"/>
            <a:ext cx="11378916" cy="1020528"/>
            <a:chOff x="304800" y="4191000"/>
            <a:chExt cx="8534400" cy="571500"/>
          </a:xfrm>
        </p:grpSpPr>
        <p:sp>
          <p:nvSpPr>
            <p:cNvPr id="233" name="Google Shape;233;p34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127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34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4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Alterando o tempo máximo esperado da resposta para 1ms.</a:t>
              </a:r>
              <a:endParaRPr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Problema: 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 aplicação não conseguiu responder dentro do tempo configurado.</a:t>
              </a:r>
              <a:endParaRPr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Qualidade de software representa a capacidade do sistema atender requisitos, necessidades do usuário e objetivos do negócio com eficiência.</a:t>
            </a:r>
            <a:endParaRPr>
              <a:solidFill>
                <a:srgbClr val="434343"/>
              </a:solidFill>
            </a:endParaRPr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Um software de qualidade deve apresentar confiabilidade, estabilidade, facilidade de manutenção e capacidade de evolução ao longo do tempo.</a:t>
            </a:r>
            <a:endParaRPr>
              <a:solidFill>
                <a:srgbClr val="434343"/>
              </a:solidFill>
            </a:endParaRPr>
          </a:p>
          <a:p>
            <a:pPr indent="-457200" lvl="0" marL="609600" rtl="0" algn="just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</a:pPr>
            <a:r>
              <a:rPr lang="pt-BR">
                <a:solidFill>
                  <a:srgbClr val="434343"/>
                </a:solidFill>
              </a:rPr>
              <a:t>Em ambientes DevOps, a qualidade deixa de ser responsabilidade exclusiva dos testes e passa a integrar todo o ciclo de desenvolvimento, entrega e operação.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40" name="Google Shape;240;p3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Conceito de Qualidade</a:t>
            </a:r>
            <a:endParaRPr/>
          </a:p>
        </p:txBody>
      </p:sp>
      <p:sp>
        <p:nvSpPr>
          <p:cNvPr id="241" name="Google Shape;241;p35"/>
          <p:cNvSpPr txBox="1"/>
          <p:nvPr/>
        </p:nvSpPr>
        <p:spPr>
          <a:xfrm>
            <a:off x="507900" y="6036767"/>
            <a:ext cx="11175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i="1" lang="pt-BR" sz="1900">
                <a:solidFill>
                  <a:srgbClr val="434343"/>
                </a:solidFill>
              </a:rPr>
              <a:t>“Qualidade deve fazer parte do processo” HUMBLE E PRIKLANDNICKI (2013).</a:t>
            </a:r>
            <a:endParaRPr i="1" sz="19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ESLint: Verificador de Qualidade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60960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pt-BR"/>
              <a:t>O ESLint é uma ferramenta de análise estática utilizada para identificar problemas de padronização, qualidade e possíveis inconsistências em códigos JavaScript. No contexto de DevOps e Integração Contínua, o ESLint atua como uma validação automatizada dentro da pipeline, auxiliando no controle de qualidade e impedindo a integração de códigos fora dos padrões definidos pelo projeto (Moraes, 2015).</a:t>
            </a:r>
            <a:endParaRPr/>
          </a:p>
        </p:txBody>
      </p:sp>
      <p:grpSp>
        <p:nvGrpSpPr>
          <p:cNvPr id="248" name="Google Shape;248;p36"/>
          <p:cNvGrpSpPr/>
          <p:nvPr/>
        </p:nvGrpSpPr>
        <p:grpSpPr>
          <a:xfrm>
            <a:off x="406390" y="5329424"/>
            <a:ext cx="11378916" cy="1020528"/>
            <a:chOff x="304800" y="4191000"/>
            <a:chExt cx="8534400" cy="571500"/>
          </a:xfrm>
        </p:grpSpPr>
        <p:sp>
          <p:nvSpPr>
            <p:cNvPr id="249" name="Google Shape;249;p36"/>
            <p:cNvSpPr/>
            <p:nvPr/>
          </p:nvSpPr>
          <p:spPr>
            <a:xfrm>
              <a:off x="304800" y="4191000"/>
              <a:ext cx="8534400" cy="571500"/>
            </a:xfrm>
            <a:prstGeom prst="roundRect">
              <a:avLst>
                <a:gd fmla="val 13333" name="adj"/>
              </a:avLst>
            </a:prstGeom>
            <a:solidFill>
              <a:srgbClr val="FEF2F2"/>
            </a:solidFill>
            <a:ln cap="flat" cmpd="sng" w="12700">
              <a:solidFill>
                <a:srgbClr val="FEE2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36"/>
            <p:cNvSpPr txBox="1"/>
            <p:nvPr/>
          </p:nvSpPr>
          <p:spPr>
            <a:xfrm>
              <a:off x="304800" y="4191000"/>
              <a:ext cx="8534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540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Exemplo Prático: </a:t>
              </a:r>
              <a:r>
                <a:rPr b="0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Adicionando const x=1; </a:t>
              </a:r>
              <a:endParaRPr b="0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Problema</a:t>
              </a:r>
              <a:r>
                <a:rPr lang="pt-BR" sz="1900">
                  <a:solidFill>
                    <a:srgbClr val="991B1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: Variável foi criada e nunca utilizada (no-unused-vars).</a:t>
              </a:r>
              <a:endParaRPr b="1" sz="1900">
                <a:solidFill>
                  <a:srgbClr val="991B1B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acontece quando um teste falha?</a:t>
            </a:r>
            <a:endParaRPr/>
          </a:p>
        </p:txBody>
      </p:sp>
      <p:sp>
        <p:nvSpPr>
          <p:cNvPr id="257" name="Google Shape;257;p3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Quando uma etapa da pipeline identifica um problema, o processo pode ser interrompido para evitar que uma versão inválida avance para as próximas etapas. </a:t>
            </a:r>
            <a:r>
              <a:rPr b="1" lang="pt-BR"/>
              <a:t>Principais consequências:</a:t>
            </a:r>
            <a:endParaRPr b="1"/>
          </a:p>
          <a:p>
            <a:pPr indent="-381000" lvl="0" marL="4572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alteração não avança para as próximas etapas.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 equipe recebe um feedback sobre o problema.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código pode ser corrigido antes da entrega.</a:t>
            </a:r>
            <a:endParaRPr/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Reduz-se o risco de levar uma versão com falhas para outro ambiente.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 txBox="1"/>
          <p:nvPr>
            <p:ph type="title"/>
          </p:nvPr>
        </p:nvSpPr>
        <p:spPr>
          <a:xfrm>
            <a:off x="554133" y="791156"/>
            <a:ext cx="15147600" cy="1017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Situação-Problema: Conclusão</a:t>
            </a:r>
            <a:endParaRPr/>
          </a:p>
        </p:txBody>
      </p:sp>
      <p:sp>
        <p:nvSpPr>
          <p:cNvPr id="263" name="Google Shape;263;p38"/>
          <p:cNvSpPr txBox="1"/>
          <p:nvPr>
            <p:ph idx="1" type="body"/>
          </p:nvPr>
        </p:nvSpPr>
        <p:spPr>
          <a:xfrm>
            <a:off x="3957833" y="1536633"/>
            <a:ext cx="78183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609600" lvl="0" marL="0" rtl="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Com a adoção de práticas de DevOps e Integração Contínua, a aplicação tornou-se mais confiável, segura e preparada para mudanças constantes.</a:t>
            </a:r>
            <a:endParaRPr sz="2100"/>
          </a:p>
          <a:p>
            <a:pPr indent="609600" lvl="0" marL="0" rtl="0" algn="just">
              <a:lnSpc>
                <a:spcPct val="13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2100"/>
              <a:t>A automação de testes, validações e builds permitiu reduzir falhas, aumentar a qualidade das entregas e acelerar o desenvolvimento continuamente.</a:t>
            </a:r>
            <a:endParaRPr sz="2100"/>
          </a:p>
        </p:txBody>
      </p:sp>
      <p:pic>
        <p:nvPicPr>
          <p:cNvPr id="264" name="Google Shape;2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0" y="1536633"/>
            <a:ext cx="3416378" cy="455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5" name="Google Shape;265;p38"/>
          <p:cNvGrpSpPr/>
          <p:nvPr/>
        </p:nvGrpSpPr>
        <p:grpSpPr>
          <a:xfrm>
            <a:off x="4071851" y="4540569"/>
            <a:ext cx="1809690" cy="1551280"/>
            <a:chOff x="314325" y="2571750"/>
            <a:chExt cx="2000100" cy="1714500"/>
          </a:xfrm>
        </p:grpSpPr>
        <p:sp>
          <p:nvSpPr>
            <p:cNvPr id="266" name="Google Shape;266;p38"/>
            <p:cNvSpPr/>
            <p:nvPr/>
          </p:nvSpPr>
          <p:spPr>
            <a:xfrm>
              <a:off x="314325" y="2571750"/>
              <a:ext cx="2000100" cy="1714500"/>
            </a:xfrm>
            <a:prstGeom prst="roundRect">
              <a:avLst>
                <a:gd fmla="val 6666" name="adj"/>
              </a:avLst>
            </a:prstGeom>
            <a:solidFill>
              <a:srgbClr val="EFF6FF"/>
            </a:solidFill>
            <a:ln cap="flat" cmpd="sng" w="172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38"/>
            <p:cNvSpPr txBox="1"/>
            <p:nvPr/>
          </p:nvSpPr>
          <p:spPr>
            <a:xfrm>
              <a:off x="3143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300" lIns="129300" spcFirstLastPara="1" rIns="129300" wrap="square" tIns="12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3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science</a:t>
              </a:r>
              <a:endParaRPr sz="33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Testes Unit.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Garantia de lógica individual</a:t>
              </a:r>
              <a:endParaRPr sz="160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8" name="Google Shape;268;p38"/>
          <p:cNvGrpSpPr/>
          <p:nvPr/>
        </p:nvGrpSpPr>
        <p:grpSpPr>
          <a:xfrm>
            <a:off x="6036805" y="4540569"/>
            <a:ext cx="1809690" cy="1551280"/>
            <a:chOff x="2486025" y="2571750"/>
            <a:chExt cx="2000100" cy="1714500"/>
          </a:xfrm>
        </p:grpSpPr>
        <p:sp>
          <p:nvSpPr>
            <p:cNvPr id="269" name="Google Shape;269;p38"/>
            <p:cNvSpPr/>
            <p:nvPr/>
          </p:nvSpPr>
          <p:spPr>
            <a:xfrm>
              <a:off x="2486025" y="2571750"/>
              <a:ext cx="2000100" cy="1714500"/>
            </a:xfrm>
            <a:prstGeom prst="roundRect">
              <a:avLst>
                <a:gd fmla="val 6666" name="adj"/>
              </a:avLst>
            </a:prstGeom>
            <a:solidFill>
              <a:srgbClr val="EFF6FF"/>
            </a:solidFill>
            <a:ln cap="flat" cmpd="sng" w="172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8"/>
            <p:cNvSpPr txBox="1"/>
            <p:nvPr/>
          </p:nvSpPr>
          <p:spPr>
            <a:xfrm>
              <a:off x="24860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300" lIns="129300" spcFirstLastPara="1" rIns="129300" wrap="square" tIns="12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3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hub</a:t>
              </a:r>
              <a:endParaRPr sz="33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Integração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Validação entre módulos</a:t>
              </a:r>
              <a:endParaRPr sz="160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1" name="Google Shape;271;p38"/>
          <p:cNvGrpSpPr/>
          <p:nvPr/>
        </p:nvGrpSpPr>
        <p:grpSpPr>
          <a:xfrm>
            <a:off x="8001760" y="4540569"/>
            <a:ext cx="1809690" cy="1551280"/>
            <a:chOff x="4657725" y="2571750"/>
            <a:chExt cx="2000100" cy="1714500"/>
          </a:xfrm>
        </p:grpSpPr>
        <p:sp>
          <p:nvSpPr>
            <p:cNvPr id="272" name="Google Shape;272;p38"/>
            <p:cNvSpPr/>
            <p:nvPr/>
          </p:nvSpPr>
          <p:spPr>
            <a:xfrm>
              <a:off x="4657725" y="2571750"/>
              <a:ext cx="2000100" cy="1714500"/>
            </a:xfrm>
            <a:prstGeom prst="roundRect">
              <a:avLst>
                <a:gd fmla="val 6666" name="adj"/>
              </a:avLst>
            </a:prstGeom>
            <a:solidFill>
              <a:srgbClr val="EFF6FF"/>
            </a:solidFill>
            <a:ln cap="flat" cmpd="sng" w="17225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38"/>
            <p:cNvSpPr txBox="1"/>
            <p:nvPr/>
          </p:nvSpPr>
          <p:spPr>
            <a:xfrm>
              <a:off x="46577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300" lIns="129300" spcFirstLastPara="1" rIns="129300" wrap="square" tIns="12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300">
                  <a:solidFill>
                    <a:srgbClr val="1E40A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speed</a:t>
              </a:r>
              <a:endParaRPr sz="3300">
                <a:solidFill>
                  <a:srgbClr val="1E40A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40AF"/>
                  </a:solidFill>
                  <a:latin typeface="Arial"/>
                  <a:ea typeface="Arial"/>
                  <a:cs typeface="Arial"/>
                  <a:sym typeface="Arial"/>
                </a:rPr>
                <a:t>Performance</a:t>
              </a:r>
              <a:endParaRPr b="1" sz="16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60A5FA"/>
                  </a:solidFill>
                  <a:latin typeface="Arial"/>
                  <a:ea typeface="Arial"/>
                  <a:cs typeface="Arial"/>
                  <a:sym typeface="Arial"/>
                </a:rPr>
                <a:t>Monitoramento de carga</a:t>
              </a:r>
              <a:endParaRPr sz="1600">
                <a:solidFill>
                  <a:srgbClr val="60A5F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4" name="Google Shape;274;p38"/>
          <p:cNvGrpSpPr/>
          <p:nvPr/>
        </p:nvGrpSpPr>
        <p:grpSpPr>
          <a:xfrm>
            <a:off x="9966714" y="4540569"/>
            <a:ext cx="1809690" cy="1551280"/>
            <a:chOff x="6829425" y="2571750"/>
            <a:chExt cx="2000100" cy="1714500"/>
          </a:xfrm>
        </p:grpSpPr>
        <p:sp>
          <p:nvSpPr>
            <p:cNvPr id="275" name="Google Shape;275;p38"/>
            <p:cNvSpPr/>
            <p:nvPr/>
          </p:nvSpPr>
          <p:spPr>
            <a:xfrm>
              <a:off x="6829425" y="2571750"/>
              <a:ext cx="2000100" cy="1714500"/>
            </a:xfrm>
            <a:prstGeom prst="roundRect">
              <a:avLst>
                <a:gd fmla="val 6666" name="adj"/>
              </a:avLst>
            </a:prstGeom>
            <a:solidFill>
              <a:srgbClr val="F0FDF4"/>
            </a:solidFill>
            <a:ln cap="flat" cmpd="sng" w="17225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8"/>
            <p:cNvSpPr txBox="1"/>
            <p:nvPr/>
          </p:nvSpPr>
          <p:spPr>
            <a:xfrm>
              <a:off x="6829425" y="2571750"/>
              <a:ext cx="20001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9300" lIns="129300" spcFirstLastPara="1" rIns="129300" wrap="square" tIns="129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3300">
                  <a:solidFill>
                    <a:srgbClr val="166534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3300">
                <a:solidFill>
                  <a:srgbClr val="16653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ctr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ESLint</a:t>
              </a:r>
              <a:endParaRPr b="1" sz="16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600">
                  <a:solidFill>
                    <a:srgbClr val="4ADE80"/>
                  </a:solidFill>
                  <a:latin typeface="Arial"/>
                  <a:ea typeface="Arial"/>
                  <a:cs typeface="Arial"/>
                  <a:sym typeface="Arial"/>
                </a:rPr>
                <a:t>Qualidade e padronização</a:t>
              </a:r>
              <a:endParaRPr sz="1600">
                <a:solidFill>
                  <a:srgbClr val="4ADE8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/>
              <a:t>Criem um novo projeto que integre três tipos de testes automatizados: unitário, integração e performance. Organizem o projeto para que cada tipo de teste possa ser executado e analisado de forma independente.</a:t>
            </a:r>
            <a:endParaRPr sz="2800"/>
          </a:p>
          <a:p>
            <a:pPr indent="45720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 sz="2800"/>
              <a:t>Em seguida, criem uma pipeline de Integração Contínua (CI) utilizando um arquivo .yml no GitHub Actions, configurada para executar automaticamente a cada push na branch main. A pipeline deverá instalar as dependências, executar os três tipos de testes e apresentar os resultados.</a:t>
            </a:r>
            <a:endParaRPr sz="2800"/>
          </a:p>
        </p:txBody>
      </p:sp>
      <p:sp>
        <p:nvSpPr>
          <p:cNvPr id="283" name="Google Shape;283;p3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0" name="Google Shape;290;p4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HUMBLE J; PRIKLANDNICKI R. Entrega Contínua: Como Entregar Software de Forma Rápida e Confiável. São Paulo: Bookman, 2013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MUNIZ, A.; et al. Jornada Devops: Unindo Cultura Ágil, Lean e Tecnologia Para Entrega De Software Com Qualidade. São Paulo: Brasport,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SATO D. DevOps na prática: entrega de software confiável e automatizada. São Paulo: Casa do Código, 2014.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SILVA, R. Entrega contínua em Android: Como automatizar a distribuição de apps. São Paulo: Casa do Código, 2016.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ARUNDEL, J. DOMINGUS, J. DevOps nativo de nuvem com Kubernetes. São Paulo: Novatec, 2019.</a:t>
            </a:r>
            <a:endParaRPr sz="20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97" name="Google Shape;297;p4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MORAES, G. Caixa de Ferramentas DevOps: Um guia para construção, administração e arquitetura de sistemas modernos. São Paulo: Casa do Código, 2015.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PIRES, A.; MILITÃO, J. Integração Contínua com Jenkins. São Paulo: Casa do Código, 2019. 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VITALINO, J. F. N.; CASTRO, M. A. N. Descomplicando o Docker. 2 ed. São Paulo: Brasport, 2018. SILVERMAN, R. E. Git: guia prático. São Paulo: Novatec, 2019.</a:t>
            </a:r>
            <a:endParaRPr sz="2040"/>
          </a:p>
          <a:p>
            <a:pPr indent="-35814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KIM, G; HUMBLE, J; DEBOIS, P; WILLIS, J; Manual de DEVOPS: Como obter agilidade, confiabilidade e segurança em organizações tecnológicas. São Paulo: Starlin Alta Editora, 2018.</a:t>
            </a:r>
            <a:endParaRPr sz="2040"/>
          </a:p>
          <a:p>
            <a:pPr indent="0" lvl="0" marL="0" rtl="0" algn="just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 sz="204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02529"/>
                </a:solidFill>
              </a:rPr>
              <a:t>Testes Automatizados</a:t>
            </a:r>
            <a:endParaRPr>
              <a:solidFill>
                <a:srgbClr val="202529"/>
              </a:solidFill>
            </a:endParaRPr>
          </a:p>
        </p:txBody>
      </p:sp>
      <p:sp>
        <p:nvSpPr>
          <p:cNvPr id="304" name="Google Shape;304;p4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